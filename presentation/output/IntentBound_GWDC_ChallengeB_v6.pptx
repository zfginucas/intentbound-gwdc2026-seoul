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83d5dea1d948ba" /><Relationship Type="http://schemas.openxmlformats.org/officeDocument/2006/relationships/extended-properties" Target="/docProps/app.xml" Id="Rfea77be12a524f90" /><Relationship Type="http://schemas.openxmlformats.org/officeDocument/2006/relationships/officeDocument" Target="/ppt/presentation.xml" Id="Rc87f6375183043dd" /></Relationships>
</file>

<file path=ppt/presentation.xml><?xml version="1.0" encoding="utf-8"?>
<p:presentation xmlns:p="http://schemas.openxmlformats.org/presentationml/2006/main">
  <p:sldMasterIdLst>
    <p:sldMasterId xmlns:r="http://schemas.openxmlformats.org/officeDocument/2006/relationships" id="2147483648" r:id="R6445971eeba247ab"/>
  </p:sldMasterIdLst>
  <p:notesMasterIdLst>
    <p:notesMasterId xmlns:r="http://schemas.openxmlformats.org/officeDocument/2006/relationships" r:id="R6e345743210a45f3"/>
  </p:notesMasterIdLst>
  <p:sldIdLst>
    <p:sldId xmlns:r="http://schemas.openxmlformats.org/officeDocument/2006/relationships" id="256" r:id="Ra71b626a0a484c1a"/>
    <p:sldId xmlns:r="http://schemas.openxmlformats.org/officeDocument/2006/relationships" id="257" r:id="Raee247c75d2e4f57"/>
    <p:sldId xmlns:r="http://schemas.openxmlformats.org/officeDocument/2006/relationships" id="258" r:id="R483bdfc32df94954"/>
    <p:sldId xmlns:r="http://schemas.openxmlformats.org/officeDocument/2006/relationships" id="259" r:id="R2662bb937fad4b1d"/>
    <p:sldId xmlns:r="http://schemas.openxmlformats.org/officeDocument/2006/relationships" id="260" r:id="R1b4e90085167470d"/>
    <p:sldId xmlns:r="http://schemas.openxmlformats.org/officeDocument/2006/relationships" id="261" r:id="R7af4da57ec9b47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556ae239744963" /><Relationship Type="http://schemas.openxmlformats.org/officeDocument/2006/relationships/slideMaster" Target="/ppt/slideMasters/slideMaster1.xml" Id="R6445971eeba247ab" /><Relationship Type="http://schemas.openxmlformats.org/officeDocument/2006/relationships/notesMaster" Target="/ppt/notesMasters/notesMaster1.xml" Id="R6e345743210a45f3" /><Relationship Type="http://schemas.openxmlformats.org/officeDocument/2006/relationships/presProps" Target="/ppt/presProps.xml" Id="R30701f3b3de74837" /><Relationship Type="http://schemas.openxmlformats.org/officeDocument/2006/relationships/tableStyles" Target="/ppt/tableStyles.xml" Id="R5d244e990ee64b25" /><Relationship Type="http://schemas.openxmlformats.org/officeDocument/2006/relationships/slide" Target="/ppt/slides/slide1.xml" Id="Ra71b626a0a484c1a" /><Relationship Type="http://schemas.openxmlformats.org/officeDocument/2006/relationships/slide" Target="/ppt/slides/slide2.xml" Id="Raee247c75d2e4f57" /><Relationship Type="http://schemas.openxmlformats.org/officeDocument/2006/relationships/slide" Target="/ppt/slides/slide3.xml" Id="R483bdfc32df94954" /><Relationship Type="http://schemas.openxmlformats.org/officeDocument/2006/relationships/slide" Target="/ppt/slides/slide4.xml" Id="R2662bb937fad4b1d" /><Relationship Type="http://schemas.openxmlformats.org/officeDocument/2006/relationships/slide" Target="/ppt/slides/slide5.xml" Id="R1b4e90085167470d" /><Relationship Type="http://schemas.openxmlformats.org/officeDocument/2006/relationships/slide" Target="/ppt/slides/slide6.xml" Id="R7af4da57ec9b47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2006a6f59449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f93e2291314ddc" /><Relationship Type="http://schemas.openxmlformats.org/officeDocument/2006/relationships/notesMaster" Target="/ppt/notesMasters/notesMaster1.xml" Id="Rca41ea74e5344d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63996a06474b45" /><Relationship Type="http://schemas.openxmlformats.org/officeDocument/2006/relationships/notesMaster" Target="/ppt/notesMasters/notesMaster1.xml" Id="R46f4c5b184b546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b344ae0f3a4a36" /><Relationship Type="http://schemas.openxmlformats.org/officeDocument/2006/relationships/notesMaster" Target="/ppt/notesMasters/notesMaster1.xml" Id="Rb455c57aa4a747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8528929f3140da" /><Relationship Type="http://schemas.openxmlformats.org/officeDocument/2006/relationships/notesMaster" Target="/ppt/notesMasters/notesMaster1.xml" Id="R1aa2149bcf0342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04ef2d5539492a" /><Relationship Type="http://schemas.openxmlformats.org/officeDocument/2006/relationships/notesMaster" Target="/ppt/notesMasters/notesMaster1.xml" Id="Rb9e7335f66fd48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8397facaee42fb" /><Relationship Type="http://schemas.openxmlformats.org/officeDocument/2006/relationships/notesMaster" Target="/ppt/notesMasters/notesMaster1.xml" Id="Rdaa9d3159fc643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Mina is building at GWDC and asks her personal agent to order dinner. IntentBound focuses on the moment money is delegated. The agent may choose food, while Mina sets the spending conditions. This is a prototype with simulated merchants; the food photograph does not show a real partner.</a:t>
            </a:r>
          </a:p>
          <a:p xmlns:a="http://schemas.openxmlformats.org/drawingml/2006/main">
            <a:r>
              <a:t/>
            </a:r>
          </a:p>
          <a:p xmlns:a="http://schemas.openxmlformats.org/drawingml/2006/main">
            <a:r>
              <a:t>Sources and disclosures:</a:t>
            </a:r>
          </a:p>
          <a:p xmlns:a="http://schemas.openxmlformats.org/drawingml/2006/main">
            <a:r>
              <a:t>Source: local GWDC Korea Hackathon: FuriosaAI X Bricksum Challenge Brief, Challenge B, page 2.</a:t>
            </a:r>
          </a:p>
          <a:p xmlns:a="http://schemas.openxmlformats.org/drawingml/2006/main">
            <a:r>
              <a:t>Source: local project design, 方案设计/01_IntentBound_详细设计方案.md.</a:t>
            </a:r>
          </a:p>
          <a:p xmlns:a="http://schemas.openxmlformats.org/drawingml/2006/main">
            <a:r>
              <a:t>Restaurant names, quotes and delivery status are simulated. Food images are illustrative CC0 photographs, not images of these merchants.</a:t>
            </a:r>
          </a:p>
          <a:p xmlns:a="http://schemas.openxmlformats.org/drawingml/2006/main">
            <a:r>
              <a:t>Food image: Wikimedia Commons, Doenjang-jjigae 3, https://commons.wikimedia.org/wiki/File:Doenjang-jjigae_3.jpg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0:30–1:05. Mina's request contains a food preference and a financial boundary. The restaurants, quotes and delivery are demonstration data. The meal preference guides the model. The cap, payee list and expiry must become explicit policy fields that Mina approves. A normal transfer receipt alone does not establish her prior conditions.</a:t>
            </a:r>
          </a:p>
          <a:p xmlns:a="http://schemas.openxmlformats.org/drawingml/2006/main">
            <a:r>
              <a:t/>
            </a:r>
          </a:p>
          <a:p xmlns:a="http://schemas.openxmlformats.org/drawingml/2006/main">
            <a:r>
              <a:t>Sources and disclosures:</a:t>
            </a:r>
          </a:p>
          <a:p xmlns:a="http://schemas.openxmlformats.org/drawingml/2006/main">
            <a:r>
              <a:t>Source: local GWDC Korea Hackathon: FuriosaAI X Bricksum Challenge Brief, Challenge B, page 2.</a:t>
            </a:r>
          </a:p>
          <a:p xmlns:a="http://schemas.openxmlformats.org/drawingml/2006/main">
            <a:r>
              <a:t>Source: local project design, 方案设计/01_IntentBound_详细设计方案.md.</a:t>
            </a:r>
          </a:p>
          <a:p xmlns:a="http://schemas.openxmlformats.org/drawingml/2006/main">
            <a:r>
              <a:t>Restaurant names, quotes and delivery status are simulated. Food images are illustrative CC0 photographs, not images of these merchants.</a:t>
            </a:r>
          </a:p>
          <a:p xmlns:a="http://schemas.openxmlformats.org/drawingml/2006/main">
            <a:r>
              <a:t>Food image: Wikimedia Commons, Brighton Bibimbap (tofu) - Time For Kimchi, https://commons.wikimedia.org/wiki/File:Brighton_Bibimbap_(tofu)_-_Time_For_Kimchi.jpg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1:05–1:40. Mina reviews the all-in cap, exact merchant payee addresses and ten-minute expiry. Kiln drafts the task and recommends a catalog item but cannot expand the approved policy. In the final recorded run, the server-side demo owner wallet funded the Shasta session and emitted SessionCreated. Approval transaction: a5d68a5293e22c1364c2d53fd0d877e6c70b188700b2d1b19a2284bdac93aa67. Mina's personal TronLink is not connected. The screenshot shows the review dialog before the approval transaction in this same recorded run.</a:t>
            </a:r>
          </a:p>
          <a:p xmlns:a="http://schemas.openxmlformats.org/drawingml/2006/main">
            <a:r>
              <a:t/>
            </a:r>
          </a:p>
          <a:p xmlns:a="http://schemas.openxmlformats.org/drawingml/2006/main">
            <a:r>
              <a:t>Sources and disclosures:</a:t>
            </a:r>
          </a:p>
          <a:p xmlns:a="http://schemas.openxmlformats.org/drawingml/2006/main">
            <a:r>
              <a:t>Source: local project design, 方案设计/01_IntentBound_详细设计方案.md.</a:t>
            </a:r>
          </a:p>
          <a:p xmlns:a="http://schemas.openxmlformats.org/drawingml/2006/main">
            <a:r>
              <a:t>TRON testnet reference: https://developers.tron.network/docs/networks</a:t>
            </a:r>
          </a:p>
          <a:p xmlns:a="http://schemas.openxmlformats.org/drawingml/2006/main">
            <a:r>
              <a:t>Final video evidence: local demo/evidence/shasta-session-evidence.json.</a:t>
            </a:r>
          </a:p>
          <a:p xmlns:a="http://schemas.openxmlformats.org/drawingml/2006/main">
            <a:r>
              <a:t>Approval explorer: https://shasta.tronscan.org/#/transaction/a5d68a5293e22c1364c2d53fd0d877e6c70b188700b2d1b19a2284bdac93aa67</a:t>
            </a:r>
          </a:p>
          <a:p xmlns:a="http://schemas.openxmlformats.org/drawingml/2006/main">
            <a:r>
              <a:t>Product screenshot: local demo/evidence/shots/02-review.png.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1:40–3:10. Show the final recorded run. A: 15 meal + 2 delivery + 2 service = 19 test TRX, above the 18 cap. The contract emitted AttemptRejected with OVER_LIMIT in 54d18e2de1f80be21f28d42a0bf9f35706730b21578e24a15766012a9733c2fb. B: the 14 TRX payee address was outside the allowlist, so the contract emitted AttemptRejected with MERCHANT_NOT_ALLOWED in 1b545a268a39c3b516cb36838ae7a48ea4b4b917f48c3071c322814e20b317a5. C: the approved Han Table payee received 16 test TRX, with PaymentExecuted in fe89db2251a2d9bcda0e41f5e7bd0f447cb22de7fbd625c96fa42119d67ce2ed. Mina then pressed Stop; the owner revoke transaction was b099c3dc6547faca54ec93c40e39a256e392027f154cdc35215c7c10ae22f297. D: a 1 TRX retry had enough remaining budget, but the revoked session emitted AttemptRejected with REVOKED in 9f70dbc937658e51941d284e82190f6cf475ad6e726e2aa94b4e1dd5a4d2cdd9. No rejection sent money to the merchant. Restaurant menus, quotes and delivery remain simulated.</a:t>
            </a:r>
          </a:p>
          <a:p xmlns:a="http://schemas.openxmlformats.org/drawingml/2006/main">
            <a:r>
              <a:t/>
            </a:r>
          </a:p>
          <a:p xmlns:a="http://schemas.openxmlformats.org/drawingml/2006/main">
            <a:r>
              <a:t>Sources and disclosures:</a:t>
            </a:r>
          </a:p>
          <a:p xmlns:a="http://schemas.openxmlformats.org/drawingml/2006/main">
            <a:r>
              <a:t>Source: local GWDC Korea Hackathon: FuriosaAI X Bricksum Challenge Brief, Challenge B, page 2.</a:t>
            </a:r>
          </a:p>
          <a:p xmlns:a="http://schemas.openxmlformats.org/drawingml/2006/main">
            <a:r>
              <a:t>Source: local project design, 方案设计/01_IntentBound_详细设计方案.md.</a:t>
            </a:r>
          </a:p>
          <a:p xmlns:a="http://schemas.openxmlformats.org/drawingml/2006/main">
            <a:r>
              <a:t>Final video run: local demo/evidence/shasta-session-evidence.json.</a:t>
            </a:r>
          </a:p>
          <a:p xmlns:a="http://schemas.openxmlformats.org/drawingml/2006/main">
            <a:r>
              <a:t>A explorer: https://shasta.tronscan.org/#/transaction/54d18e2de1f80be21f28d42a0bf9f35706730b21578e24a15766012a9733c2fb</a:t>
            </a:r>
          </a:p>
          <a:p xmlns:a="http://schemas.openxmlformats.org/drawingml/2006/main">
            <a:r>
              <a:t>B explorer: https://shasta.tronscan.org/#/transaction/1b545a268a39c3b516cb36838ae7a48ea4b4b917f48c3071c322814e20b317a5</a:t>
            </a:r>
          </a:p>
          <a:p xmlns:a="http://schemas.openxmlformats.org/drawingml/2006/main">
            <a:r>
              <a:t>C explorer: https://shasta.tronscan.org/#/transaction/fe89db2251a2d9bcda0e41f5e7bd0f447cb22de7fbd625c96fa42119d67ce2ed</a:t>
            </a:r>
          </a:p>
          <a:p xmlns:a="http://schemas.openxmlformats.org/drawingml/2006/main">
            <a:r>
              <a:t>D explorer: https://shasta.tronscan.org/#/transaction/9f70dbc937658e51941d284e82190f6cf475ad6e726e2aa94b4e1dd5a4d2cdd9</a:t>
            </a:r>
          </a:p>
          <a:p xmlns:a="http://schemas.openxmlformats.org/drawingml/2006/main">
            <a:r>
              <a:t>Revoke explorer: https://shasta.tronscan.org/#/transaction/b099c3dc6547faca54ec93c40e39a256e392027f154cdc35215c7c10ae22f297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3:10–4:05. A read-only visitor can paste session 0xc6ff6c2d326a69a868023cf768edef7a171b6a0756f90161e928bcceab788b1d into Public Audit without a wallet. The final recorded run returned 10 of 10 passed checks: policy hash, owner and agent, caps, expiry, allowlist, approval event, and attempts A through D. The Case C receipt is a real 16 test TRX Shasta payment to the permitted Han Table address. Payment transaction: fe89db2251a2d9bcda0e41f5e7bd0f447cb22de7fbd625c96fa42119d67ce2ed. The auditor queries Shasta records independently. This proves the payment met the financial permission, not that a real restaurant prepared or delivered food.</a:t>
            </a:r>
          </a:p>
          <a:p xmlns:a="http://schemas.openxmlformats.org/drawingml/2006/main">
            <a:r>
              <a:t/>
            </a:r>
          </a:p>
          <a:p xmlns:a="http://schemas.openxmlformats.org/drawingml/2006/main">
            <a:r>
              <a:t>Sources and disclosures:</a:t>
            </a:r>
          </a:p>
          <a:p xmlns:a="http://schemas.openxmlformats.org/drawingml/2006/main">
            <a:r>
              <a:t>Source: local GWDC Korea Hackathon: FuriosaAI X Bricksum Challenge Brief, Challenge B, page 2.</a:t>
            </a:r>
          </a:p>
          <a:p xmlns:a="http://schemas.openxmlformats.org/drawingml/2006/main">
            <a:r>
              <a:t>TRON testnet reference: https://developers.tron.network/docs/networks</a:t>
            </a:r>
          </a:p>
          <a:p xmlns:a="http://schemas.openxmlformats.org/drawingml/2006/main">
            <a:r>
              <a:t>Final video evidence: local demo/evidence/shasta-session-evidence.json and demo/evidence/shasta-audit.json.</a:t>
            </a:r>
          </a:p>
          <a:p xmlns:a="http://schemas.openxmlformats.org/drawingml/2006/main">
            <a:r>
              <a:t>Payment explorer: https://shasta.tronscan.org/#/transaction/fe89db2251a2d9bcda0e41f5e7bd0f447cb22de7fbd625c96fa42119d67ce2ed</a:t>
            </a:r>
          </a:p>
          <a:p xmlns:a="http://schemas.openxmlformats.org/drawingml/2006/main">
            <a:r>
              <a:t>Product screenshot captured by presentation/.build/capture_shasta_evidence.mjs for this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4:05–5:00. The final video run made two real Kiln qwen3-32b calls. Intent draft: 261 input and 97 output tokens, generation 797d3e47-19cc-4db1-8b36-e81f76110651, 2791 ms end-to-end latency. Menu choice: 358 input and 78 output tokens, generation 124e1bad-a362-421e-85fa-fc65b0d4ed5f, 1371 ms. Total: 794 tokens. The four payment attempts required no extra model call because price, payee and Stop checks run in code and the contract. The energy figure is only a scenario: FuriosaAI lists four RNGD cards for Qwen3-32B-FP8 and 150 W TDP each. Assigning all 600 W for the full 4.162 s API latency gives 0.694 Wh. This is not measured Kiln energy, because deployed hardware, allocated power and inference-only time are unknown; latency includes network and queueing. Do not claim a percentage saving. The final Shasta run recorded one 16 test TRX payment, three on-chain nonpayment decisions and a 10/10 independent audit. Merchant quotes and fulfillment remain simulated. The provider told the team to use qwen3-32b rather than the model in the original brief.</a:t>
            </a:r>
          </a:p>
          <a:p xmlns:a="http://schemas.openxmlformats.org/drawingml/2006/main">
            <a:r>
              <a:t/>
            </a:r>
          </a:p>
          <a:p xmlns:a="http://schemas.openxmlformats.org/drawingml/2006/main">
            <a:r>
              <a:t>Sources and disclosures:</a:t>
            </a:r>
          </a:p>
          <a:p xmlns:a="http://schemas.openxmlformats.org/drawingml/2006/main">
            <a:r>
              <a:t>Source: local GWDC Korea Hackathon: FuriosaAI X Bricksum Challenge Brief, Challenge B, page 2.</a:t>
            </a:r>
          </a:p>
          <a:p xmlns:a="http://schemas.openxmlformats.org/drawingml/2006/main">
            <a:r>
              <a:t>Kiln API reference: https://kiln.bricksum.com/docs/en/api-reference</a:t>
            </a:r>
          </a:p>
          <a:p xmlns:a="http://schemas.openxmlformats.org/drawingml/2006/main">
            <a:r>
              <a:t>Final run usage: local demo/evidence/kiln-usage-this-run.json.</a:t>
            </a:r>
          </a:p>
          <a:p xmlns:a="http://schemas.openxmlformats.org/drawingml/2006/main">
            <a:r>
              <a:t>Final chain and audit: local demo/evidence/shasta-session-evidence.json and demo/evidence/shasta-audit.json.</a:t>
            </a:r>
          </a:p>
          <a:p xmlns:a="http://schemas.openxmlformats.org/drawingml/2006/main">
            <a:r>
              <a:t>FuriosaAI Qwen3 deployment table: https://developer.furiosa.ai/latest/en/furiosa_llm/models/qwen3.html</a:t>
            </a:r>
          </a:p>
          <a:p xmlns:a="http://schemas.openxmlformats.org/drawingml/2006/main">
            <a:r>
              <a:t>FuriosaAI RNGD TDP: https://developer.furiosa.ai/latest/en/overview/rngd.html</a:t>
            </a:r>
          </a:p>
          <a:p xmlns:a="http://schemas.openxmlformats.org/drawingml/2006/main">
            <a:r>
              <a:t>Source: local project design, 方案设计/01_IntentBound_详细设计方案.md.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52863a504943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5d2c0fe5244d6a" /><Relationship Type="http://schemas.openxmlformats.org/officeDocument/2006/relationships/slideLayout" Target="/ppt/slideLayouts/slideLayout1.xml" Id="R724e9932f65547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4e9932f65547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f0bf1b29dd4b8b" /><Relationship Type="http://schemas.openxmlformats.org/officeDocument/2006/relationships/image" Target="/ppt/media/image.jpeg" Id="Rc94ca2a48bdd4a6c" /><Relationship Type="http://schemas.openxmlformats.org/officeDocument/2006/relationships/notesSlide" Target="/ppt/notesSlides/notesSlide1.xml" Id="R0d6ca7f9ec2f4f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7697bc9a894564" /><Relationship Type="http://schemas.openxmlformats.org/officeDocument/2006/relationships/image" Target="/ppt/media/image2.jpeg" Id="R48470154ab84489b" /><Relationship Type="http://schemas.openxmlformats.org/officeDocument/2006/relationships/notesSlide" Target="/ppt/notesSlides/notesSlide2.xml" Id="Raf1bf1795b6b4b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0e379c3c8443a3" /><Relationship Type="http://schemas.openxmlformats.org/officeDocument/2006/relationships/image" Target="/ppt/media/image.png" Id="R4c68cc4037074665" /><Relationship Type="http://schemas.openxmlformats.org/officeDocument/2006/relationships/notesSlide" Target="/ppt/notesSlides/notesSlide3.xml" Id="R13e91946ba3946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5bf43fc2304969" /><Relationship Type="http://schemas.openxmlformats.org/officeDocument/2006/relationships/notesSlide" Target="/ppt/notesSlides/notesSlide4.xml" Id="R1d9677d3aef64d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f50eaf6f0d4605" /><Relationship Type="http://schemas.openxmlformats.org/officeDocument/2006/relationships/image" Target="/ppt/media/image2.png" Id="R1ad35c0306674f66" /><Relationship Type="http://schemas.openxmlformats.org/officeDocument/2006/relationships/notesSlide" Target="/ppt/notesSlides/notesSlide5.xml" Id="R7275632beab54a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4555e6de9a4522" /><Relationship Type="http://schemas.openxmlformats.org/officeDocument/2006/relationships/notesSlide" Target="/ppt/notesSlides/notesSlide6.xml" Id="Rb443fb6ede444422" /></Relationships>
</file>

<file path=ppt/slides/slide1.xml><?xml version="1.0" encoding="utf-8"?>
<p:sld xmlns:p="http://schemas.openxmlformats.org/presentationml/2006/main">
  <p:cSld>
    <p:bg>
      <p:bgPr>
        <a:solidFill xmlns:a="http://schemas.openxmlformats.org/drawingml/2006/main">
          <a:srgbClr val="09221C"/>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c94ca2a48bdd4a6c"/>
          <a:srcRect xmlns:a="http://schemas.openxmlformats.org/drawingml/2006/main" l="22222" t="0" r="22222" b="0"/>
          <a:stretch xmlns:a="http://schemas.openxmlformats.org/drawingml/2006/main">
            <a:fillRect l="0" t="0" r="0" b="0"/>
          </a:stretch>
        </p:blipFill>
        <p:spPr>
          <a:xfrm xmlns:a="http://schemas.openxmlformats.org/drawingml/2006/main">
            <a:off x="6477000" y="0"/>
            <a:ext cx="5715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2982AE0-0DD9-4A71-8ECB-F59FEF7693DF}"/>
              </a:ext>
            </a:extLst>
          </p:cNvPr>
          <p:cNvSpPr>
            <a:spLocks xmlns:a="http://schemas.openxmlformats.org/drawingml/2006/main" noGrp="1"/>
          </p:cNvSpPr>
          <p:nvPr/>
        </p:nvSpPr>
        <p:spPr>
          <a:xfrm xmlns:a="http://schemas.openxmlformats.org/drawingml/2006/main">
            <a:off x="647700" y="1104900"/>
            <a:ext cx="55816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IntentBound</a:t>
            </a:r>
          </a:p>
        </p:txBody>
      </p:sp>
      <p:sp>
        <p:nvSpPr>
          <p:cNvPr id="3" name="text-2">
            <a:extLst xmlns:a="http://schemas.openxmlformats.org/drawingml/2006/main">
              <a:ext uri="{FF2B5EF4-FFF2-40B4-BE49-F238E27FC236}">
                <a16:creationId xmlns:a16="http://schemas.microsoft.com/office/drawing/2014/main" id="{2F9F6240-BDC9-4312-BF24-0C5304471DA7}"/>
              </a:ext>
            </a:extLst>
          </p:cNvPr>
          <p:cNvSpPr>
            <a:spLocks xmlns:a="http://schemas.openxmlformats.org/drawingml/2006/main" noGrp="1"/>
          </p:cNvSpPr>
          <p:nvPr/>
        </p:nvSpPr>
        <p:spPr>
          <a:xfrm xmlns:a="http://schemas.openxmlformats.org/drawingml/2006/main">
            <a:off x="695325" y="2324100"/>
            <a:ext cx="53340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Permission for 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personal agent</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that spends</a:t>
            </a:r>
          </a:p>
        </p:txBody>
      </p:sp>
      <p:sp>
        <p:nvSpPr>
          <p:cNvPr id="4" name="text-3">
            <a:extLst xmlns:a="http://schemas.openxmlformats.org/drawingml/2006/main">
              <a:ext uri="{FF2B5EF4-FFF2-40B4-BE49-F238E27FC236}">
                <a16:creationId xmlns:a16="http://schemas.microsoft.com/office/drawing/2014/main" id="{CAB8D984-514C-45A5-A96B-28BDD45EBE6F}"/>
              </a:ext>
            </a:extLst>
          </p:cNvPr>
          <p:cNvSpPr>
            <a:spLocks xmlns:a="http://schemas.openxmlformats.org/drawingml/2006/main" noGrp="1"/>
          </p:cNvSpPr>
          <p:nvPr/>
        </p:nvSpPr>
        <p:spPr>
          <a:xfrm xmlns:a="http://schemas.openxmlformats.org/drawingml/2006/main">
            <a:off x="723900" y="59436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0D5A2"/>
                </a:solidFill>
                <a:latin typeface="Arial"/>
                <a:ea typeface="Arial"/>
                <a:cs typeface="Arial"/>
              </a:defRPr>
            </a:pPr>
            <a:r>
              <a:rPr sz="1500" b="1">
                <a:solidFill>
                  <a:srgbClr val="70D5A2"/>
                </a:solidFill>
                <a:latin typeface="Arial"/>
                <a:ea typeface="Arial"/>
                <a:cs typeface="Arial"/>
              </a:rPr>
              <a:t>GWDC Seoul, Challenge B</a:t>
            </a:r>
          </a:p>
        </p:txBody>
      </p:sp>
    </p:spTree>
    <p:extLst>
      <p:ext uri="{BB962C8B-B14F-4D97-AF65-F5344CB8AC3E}">
        <p14:creationId xmlns:p14="http://schemas.microsoft.com/office/powerpoint/2010/main" val="497964968"/>
      </p:ext>
    </p:extLst>
  </p:cSld>
</p:sld>
</file>

<file path=ppt/slides/slide2.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6" name="text-4">
            <a:extLst xmlns:a="http://schemas.openxmlformats.org/drawingml/2006/main">
              <a:ext uri="{FF2B5EF4-FFF2-40B4-BE49-F238E27FC236}">
                <a16:creationId xmlns:a16="http://schemas.microsoft.com/office/drawing/2014/main" id="{BDD157BA-92EF-4F60-AF55-FEEFB150DE7E}"/>
              </a:ext>
            </a:extLst>
          </p:cNvPr>
          <p:cNvSpPr>
            <a:spLocks xmlns:a="http://schemas.openxmlformats.org/drawingml/2006/main" noGrp="1"/>
          </p:cNvSpPr>
          <p:nvPr/>
        </p:nvSpPr>
        <p:spPr>
          <a:xfrm xmlns:a="http://schemas.openxmlformats.org/drawingml/2006/main">
            <a:off x="666750" y="561975"/>
            <a:ext cx="695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A2E"/>
                </a:solidFill>
                <a:latin typeface="Arial"/>
                <a:ea typeface="Arial"/>
                <a:cs typeface="Arial"/>
              </a:defRPr>
            </a:pPr>
            <a:r>
              <a:rPr sz="3450" b="1">
                <a:solidFill>
                  <a:srgbClr val="233A2E"/>
                </a:solidFill>
                <a:latin typeface="Arial"/>
                <a:ea typeface="Arial"/>
                <a:cs typeface="Arial"/>
              </a:rPr>
              <a:t>Mina delegates dinner</a:t>
            </a:r>
          </a:p>
        </p:txBody>
      </p:sp>
      <p:sp>
        <p:nvSpPr>
          <p:cNvPr id="2" name="text-5">
            <a:extLst xmlns:a="http://schemas.openxmlformats.org/drawingml/2006/main">
              <a:ext uri="{FF2B5EF4-FFF2-40B4-BE49-F238E27FC236}">
                <a16:creationId xmlns:a16="http://schemas.microsoft.com/office/drawing/2014/main" id="{186968FF-E490-467D-AA56-76328958CB45}"/>
              </a:ext>
            </a:extLst>
          </p:cNvPr>
          <p:cNvSpPr>
            <a:spLocks xmlns:a="http://schemas.openxmlformats.org/drawingml/2006/main" noGrp="1"/>
          </p:cNvSpPr>
          <p:nvPr/>
        </p:nvSpPr>
        <p:spPr>
          <a:xfrm xmlns:a="http://schemas.openxmlformats.org/drawingml/2006/main">
            <a:off x="685800" y="1685925"/>
            <a:ext cx="6791325"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33A2E"/>
                </a:solidFill>
                <a:latin typeface="Arial"/>
                <a:ea typeface="Arial"/>
                <a:cs typeface="Arial"/>
              </a:defRPr>
            </a:pPr>
            <a:r>
              <a:rPr sz="2700" b="1">
                <a:solidFill>
                  <a:srgbClr val="233A2E"/>
                </a:solidFill>
                <a:latin typeface="Arial"/>
                <a:ea typeface="Arial"/>
                <a:cs typeface="Arial"/>
              </a:rPr>
              <a:t>“A warm meal, no cilantro.</a:t>
            </a:r>
          </a:p>
          <a:p xmlns:a="http://schemas.openxmlformats.org/drawingml/2006/main">
            <a:pPr>
              <a:defRPr sz="2700" b="1">
                <a:solidFill>
                  <a:srgbClr val="233A2E"/>
                </a:solidFill>
                <a:latin typeface="Arial"/>
                <a:ea typeface="Arial"/>
                <a:cs typeface="Arial"/>
              </a:defRPr>
            </a:pPr>
            <a:r>
              <a:rPr sz="2700" b="1">
                <a:solidFill>
                  <a:srgbClr val="233A2E"/>
                </a:solidFill>
                <a:latin typeface="Arial"/>
                <a:ea typeface="Arial"/>
                <a:cs typeface="Arial"/>
              </a:rPr>
              <a:t>At most 18 test TRX, fees</a:t>
            </a:r>
          </a:p>
          <a:p xmlns:a="http://schemas.openxmlformats.org/drawingml/2006/main">
            <a:pPr>
              <a:defRPr sz="2700" b="1">
                <a:solidFill>
                  <a:srgbClr val="233A2E"/>
                </a:solidFill>
                <a:latin typeface="Arial"/>
                <a:ea typeface="Arial"/>
                <a:cs typeface="Arial"/>
              </a:defRPr>
            </a:pPr>
            <a:r>
              <a:rPr sz="2700" b="1">
                <a:solidFill>
                  <a:srgbClr val="233A2E"/>
                </a:solidFill>
                <a:latin typeface="Arial"/>
                <a:ea typeface="Arial"/>
                <a:cs typeface="Arial"/>
              </a:rPr>
              <a:t>included. Only my two</a:t>
            </a:r>
          </a:p>
          <a:p xmlns:a="http://schemas.openxmlformats.org/drawingml/2006/main">
            <a:pPr>
              <a:defRPr sz="2700" b="1">
                <a:solidFill>
                  <a:srgbClr val="233A2E"/>
                </a:solidFill>
                <a:latin typeface="Arial"/>
                <a:ea typeface="Arial"/>
                <a:cs typeface="Arial"/>
              </a:defRPr>
            </a:pPr>
            <a:r>
              <a:rPr sz="2700" b="1">
                <a:solidFill>
                  <a:srgbClr val="233A2E"/>
                </a:solidFill>
                <a:latin typeface="Arial"/>
                <a:ea typeface="Arial"/>
                <a:cs typeface="Arial"/>
              </a:rPr>
              <a:t>approved restaurants.”</a:t>
            </a:r>
          </a:p>
        </p:txBody>
      </p:sp>
      <p:sp>
        <p:nvSpPr>
          <p:cNvPr id="3" name="text-6">
            <a:extLst xmlns:a="http://schemas.openxmlformats.org/drawingml/2006/main">
              <a:ext uri="{FF2B5EF4-FFF2-40B4-BE49-F238E27FC236}">
                <a16:creationId xmlns:a16="http://schemas.microsoft.com/office/drawing/2014/main" id="{1266372B-3898-4FB2-9564-7CA3FE2B5294}"/>
              </a:ext>
            </a:extLst>
          </p:cNvPr>
          <p:cNvSpPr>
            <a:spLocks xmlns:a="http://schemas.openxmlformats.org/drawingml/2006/main" noGrp="1"/>
          </p:cNvSpPr>
          <p:nvPr/>
        </p:nvSpPr>
        <p:spPr>
          <a:xfrm xmlns:a="http://schemas.openxmlformats.org/drawingml/2006/main">
            <a:off x="704850" y="4581525"/>
            <a:ext cx="6610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D8C61"/>
                </a:solidFill>
                <a:latin typeface="Arial"/>
                <a:ea typeface="Arial"/>
                <a:cs typeface="Arial"/>
              </a:defRPr>
            </a:pPr>
            <a:r>
              <a:rPr sz="1875" b="1">
                <a:solidFill>
                  <a:srgbClr val="1D8C61"/>
                </a:solidFill>
                <a:latin typeface="Arial"/>
                <a:ea typeface="Arial"/>
                <a:cs typeface="Arial"/>
              </a:rPr>
              <a:t>Order within ten minutes</a:t>
            </a:r>
          </a:p>
        </p:txBody>
      </p:sp>
      <p:sp>
        <p:nvSpPr>
          <p:cNvPr id="4" name="text-7">
            <a:extLst xmlns:a="http://schemas.openxmlformats.org/drawingml/2006/main">
              <a:ext uri="{FF2B5EF4-FFF2-40B4-BE49-F238E27FC236}">
                <a16:creationId xmlns:a16="http://schemas.microsoft.com/office/drawing/2014/main" id="{622612E6-C972-49A5-B957-4FE166AEE797}"/>
              </a:ext>
            </a:extLst>
          </p:cNvPr>
          <p:cNvSpPr>
            <a:spLocks xmlns:a="http://schemas.openxmlformats.org/drawingml/2006/main" noGrp="1"/>
          </p:cNvSpPr>
          <p:nvPr/>
        </p:nvSpPr>
        <p:spPr>
          <a:xfrm xmlns:a="http://schemas.openxmlformats.org/drawingml/2006/main">
            <a:off x="704850" y="5343525"/>
            <a:ext cx="676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4776A"/>
                </a:solidFill>
                <a:latin typeface="Arial"/>
                <a:ea typeface="Arial"/>
                <a:cs typeface="Arial"/>
              </a:defRPr>
            </a:pPr>
            <a:r>
              <a:rPr sz="1875" b="0">
                <a:solidFill>
                  <a:srgbClr val="64776A"/>
                </a:solidFill>
                <a:latin typeface="Arial"/>
                <a:ea typeface="Arial"/>
                <a:cs typeface="Arial"/>
              </a:rPr>
              <a:t>A payment receipt shows the payee. Mina also needs evidence that the payee and full price fit her permission.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8470154ab84489b"/>
          <a:srcRect xmlns:a="http://schemas.openxmlformats.org/drawingml/2006/main" l="25836" t="0" r="25836" b="0"/>
          <a:stretch xmlns:a="http://schemas.openxmlformats.org/drawingml/2006/main">
            <a:fillRect l="0" t="0" r="0" b="0"/>
          </a:stretch>
        </p:blipFill>
        <p:spPr>
          <a:xfrm xmlns:a="http://schemas.openxmlformats.org/drawingml/2006/main">
            <a:off x="8048625" y="685800"/>
            <a:ext cx="3486150" cy="5410200"/>
          </a:xfrm>
          <a:prstGeom xmlns:a="http://schemas.openxmlformats.org/drawingml/2006/main" prst="rect">
            <a:avLst/>
          </a:prstGeom>
        </p:spPr>
      </p:pic>
    </p:spTree>
    <p:extLst>
      <p:ext uri="{BB962C8B-B14F-4D97-AF65-F5344CB8AC3E}">
        <p14:creationId xmlns:p14="http://schemas.microsoft.com/office/powerpoint/2010/main" val="2034754623"/>
      </p:ext>
    </p:extLst>
  </p:cSld>
</p:sld>
</file>

<file path=ppt/slides/slide3.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9" name="text-8">
            <a:extLst xmlns:a="http://schemas.openxmlformats.org/drawingml/2006/main">
              <a:ext uri="{FF2B5EF4-FFF2-40B4-BE49-F238E27FC236}">
                <a16:creationId xmlns:a16="http://schemas.microsoft.com/office/drawing/2014/main" id="{59B1C160-6DF7-4178-B131-81D6549D0ECF}"/>
              </a:ext>
            </a:extLst>
          </p:cNvPr>
          <p:cNvSpPr>
            <a:spLocks xmlns:a="http://schemas.openxmlformats.org/drawingml/2006/main" noGrp="1"/>
          </p:cNvSpPr>
          <p:nvPr/>
        </p:nvSpPr>
        <p:spPr>
          <a:xfrm xmlns:a="http://schemas.openxmlformats.org/drawingml/2006/main">
            <a:off x="666750" y="552450"/>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A2E"/>
                </a:solidFill>
                <a:latin typeface="Arial"/>
                <a:ea typeface="Arial"/>
                <a:cs typeface="Arial"/>
              </a:defRPr>
            </a:pPr>
            <a:r>
              <a:rPr sz="3450" b="1">
                <a:solidFill>
                  <a:srgbClr val="233A2E"/>
                </a:solidFill>
                <a:latin typeface="Arial"/>
                <a:ea typeface="Arial"/>
                <a:cs typeface="Arial"/>
              </a:rPr>
              <a:t>A bounded spending session</a:t>
            </a:r>
          </a:p>
        </p:txBody>
      </p:sp>
      <p:sp>
        <p:nvSpPr>
          <p:cNvPr id="2" name="text-9">
            <a:extLst xmlns:a="http://schemas.openxmlformats.org/drawingml/2006/main">
              <a:ext uri="{FF2B5EF4-FFF2-40B4-BE49-F238E27FC236}">
                <a16:creationId xmlns:a16="http://schemas.microsoft.com/office/drawing/2014/main" id="{B5DFA106-6714-4B4F-905E-EC976B09D280}"/>
              </a:ext>
            </a:extLst>
          </p:cNvPr>
          <p:cNvSpPr>
            <a:spLocks xmlns:a="http://schemas.openxmlformats.org/drawingml/2006/main" noGrp="1"/>
          </p:cNvSpPr>
          <p:nvPr/>
        </p:nvSpPr>
        <p:spPr>
          <a:xfrm xmlns:a="http://schemas.openxmlformats.org/drawingml/2006/main">
            <a:off x="695325" y="1695450"/>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725" b="1">
                <a:solidFill>
                  <a:srgbClr val="1D8C61"/>
                </a:solidFill>
                <a:latin typeface="Arial"/>
                <a:ea typeface="Arial"/>
                <a:cs typeface="Arial"/>
              </a:defRPr>
            </a:pPr>
            <a:r>
              <a:rPr sz="7725" b="1">
                <a:solidFill>
                  <a:srgbClr val="1D8C61"/>
                </a:solidFill>
                <a:latin typeface="Arial"/>
                <a:ea typeface="Arial"/>
                <a:cs typeface="Arial"/>
              </a:rPr>
              <a:t>18</a:t>
            </a:r>
          </a:p>
        </p:txBody>
      </p:sp>
      <p:sp>
        <p:nvSpPr>
          <p:cNvPr id="3" name="text-10">
            <a:extLst xmlns:a="http://schemas.openxmlformats.org/drawingml/2006/main">
              <a:ext uri="{FF2B5EF4-FFF2-40B4-BE49-F238E27FC236}">
                <a16:creationId xmlns:a16="http://schemas.microsoft.com/office/drawing/2014/main" id="{5C957F04-B399-46DB-A455-5DB6317550B8}"/>
              </a:ext>
            </a:extLst>
          </p:cNvPr>
          <p:cNvSpPr>
            <a:spLocks xmlns:a="http://schemas.openxmlformats.org/drawingml/2006/main" noGrp="1"/>
          </p:cNvSpPr>
          <p:nvPr/>
        </p:nvSpPr>
        <p:spPr>
          <a:xfrm xmlns:a="http://schemas.openxmlformats.org/drawingml/2006/main">
            <a:off x="733425" y="2800350"/>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3A2E"/>
                </a:solidFill>
                <a:latin typeface="Arial"/>
                <a:ea typeface="Arial"/>
                <a:cs typeface="Arial"/>
              </a:defRPr>
            </a:pPr>
            <a:r>
              <a:rPr sz="2025" b="1">
                <a:solidFill>
                  <a:srgbClr val="233A2E"/>
                </a:solidFill>
                <a:latin typeface="Arial"/>
                <a:ea typeface="Arial"/>
                <a:cs typeface="Arial"/>
              </a:rPr>
              <a:t>test TRX, all fees included</a:t>
            </a:r>
          </a:p>
        </p:txBody>
      </p:sp>
      <p:sp>
        <p:nvSpPr>
          <p:cNvPr id="4" name="text-11">
            <a:extLst xmlns:a="http://schemas.openxmlformats.org/drawingml/2006/main">
              <a:ext uri="{FF2B5EF4-FFF2-40B4-BE49-F238E27FC236}">
                <a16:creationId xmlns:a16="http://schemas.microsoft.com/office/drawing/2014/main" id="{B4C2F7DE-50FF-4904-97AA-09E89DA62E28}"/>
              </a:ext>
            </a:extLst>
          </p:cNvPr>
          <p:cNvSpPr>
            <a:spLocks xmlns:a="http://schemas.openxmlformats.org/drawingml/2006/main" noGrp="1"/>
          </p:cNvSpPr>
          <p:nvPr/>
        </p:nvSpPr>
        <p:spPr>
          <a:xfrm xmlns:a="http://schemas.openxmlformats.org/drawingml/2006/main">
            <a:off x="733425" y="3743325"/>
            <a:ext cx="3486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A2E"/>
                </a:solidFill>
                <a:latin typeface="Arial"/>
                <a:ea typeface="Arial"/>
                <a:cs typeface="Arial"/>
              </a:defRPr>
            </a:pPr>
            <a:r>
              <a:rPr sz="2100" b="1">
                <a:solidFill>
                  <a:srgbClr val="233A2E"/>
                </a:solidFill>
                <a:latin typeface="Arial"/>
                <a:ea typeface="Arial"/>
                <a:cs typeface="Arial"/>
              </a:rPr>
              <a:t>Exact payee addresses</a:t>
            </a:r>
          </a:p>
        </p:txBody>
      </p:sp>
      <p:sp>
        <p:nvSpPr>
          <p:cNvPr id="5" name="text-12">
            <a:extLst xmlns:a="http://schemas.openxmlformats.org/drawingml/2006/main">
              <a:ext uri="{FF2B5EF4-FFF2-40B4-BE49-F238E27FC236}">
                <a16:creationId xmlns:a16="http://schemas.microsoft.com/office/drawing/2014/main" id="{0A19C706-566A-48DE-81F9-22CEE1E1DA62}"/>
              </a:ext>
            </a:extLst>
          </p:cNvPr>
          <p:cNvSpPr>
            <a:spLocks xmlns:a="http://schemas.openxmlformats.org/drawingml/2006/main" noGrp="1"/>
          </p:cNvSpPr>
          <p:nvPr/>
        </p:nvSpPr>
        <p:spPr>
          <a:xfrm xmlns:a="http://schemas.openxmlformats.org/drawingml/2006/main">
            <a:off x="733425" y="4352925"/>
            <a:ext cx="3486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A2E"/>
                </a:solidFill>
                <a:latin typeface="Arial"/>
                <a:ea typeface="Arial"/>
                <a:cs typeface="Arial"/>
              </a:defRPr>
            </a:pPr>
            <a:r>
              <a:rPr sz="2100" b="1">
                <a:solidFill>
                  <a:srgbClr val="233A2E"/>
                </a:solidFill>
                <a:latin typeface="Arial"/>
                <a:ea typeface="Arial"/>
                <a:cs typeface="Arial"/>
              </a:rPr>
              <a:t>Expires after 10 minutes</a:t>
            </a:r>
          </a:p>
        </p:txBody>
      </p:sp>
      <p:sp>
        <p:nvSpPr>
          <p:cNvPr id="6" name="text-13">
            <a:extLst xmlns:a="http://schemas.openxmlformats.org/drawingml/2006/main">
              <a:ext uri="{FF2B5EF4-FFF2-40B4-BE49-F238E27FC236}">
                <a16:creationId xmlns:a16="http://schemas.microsoft.com/office/drawing/2014/main" id="{B9E4466F-A8FD-4A3B-AC68-6F525708453B}"/>
              </a:ext>
            </a:extLst>
          </p:cNvPr>
          <p:cNvSpPr>
            <a:spLocks xmlns:a="http://schemas.openxmlformats.org/drawingml/2006/main" noGrp="1"/>
          </p:cNvSpPr>
          <p:nvPr/>
        </p:nvSpPr>
        <p:spPr>
          <a:xfrm xmlns:a="http://schemas.openxmlformats.org/drawingml/2006/main">
            <a:off x="733425" y="4962525"/>
            <a:ext cx="3486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A2E"/>
                </a:solidFill>
                <a:latin typeface="Arial"/>
                <a:ea typeface="Arial"/>
                <a:cs typeface="Arial"/>
              </a:defRPr>
            </a:pPr>
            <a:r>
              <a:rPr sz="2100" b="1">
                <a:solidFill>
                  <a:srgbClr val="233A2E"/>
                </a:solidFill>
                <a:latin typeface="Arial"/>
                <a:ea typeface="Arial"/>
                <a:cs typeface="Arial"/>
              </a:rPr>
              <a:t>Stop at any time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c68cc4037074665"/>
          <a:stretch xmlns:a="http://schemas.openxmlformats.org/drawingml/2006/main"/>
        </p:blipFill>
        <p:spPr>
          <a:xfrm xmlns:a="http://schemas.openxmlformats.org/drawingml/2006/main">
            <a:off x="6149546" y="1285875"/>
            <a:ext cx="4160108" cy="4810125"/>
          </a:xfrm>
          <a:prstGeom xmlns:a="http://schemas.openxmlformats.org/drawingml/2006/main" prst="rect">
            <a:avLst/>
          </a:prstGeom>
        </p:spPr>
      </p:pic>
      <p:sp>
        <p:nvSpPr>
          <p:cNvPr id="8" name="text-14">
            <a:extLst xmlns:a="http://schemas.openxmlformats.org/drawingml/2006/main">
              <a:ext uri="{FF2B5EF4-FFF2-40B4-BE49-F238E27FC236}">
                <a16:creationId xmlns:a16="http://schemas.microsoft.com/office/drawing/2014/main" id="{8EACF626-3457-4F96-856F-03AC5F556DF7}"/>
              </a:ext>
            </a:extLst>
          </p:cNvPr>
          <p:cNvSpPr>
            <a:spLocks xmlns:a="http://schemas.openxmlformats.org/drawingml/2006/main" noGrp="1"/>
          </p:cNvSpPr>
          <p:nvPr/>
        </p:nvSpPr>
        <p:spPr>
          <a:xfrm xmlns:a="http://schemas.openxmlformats.org/drawingml/2006/main">
            <a:off x="685800" y="6210300"/>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D8C61"/>
                </a:solidFill>
                <a:latin typeface="Arial"/>
                <a:ea typeface="Arial"/>
                <a:cs typeface="Arial"/>
              </a:defRPr>
            </a:pPr>
            <a:r>
              <a:rPr sz="1350" b="1">
                <a:solidFill>
                  <a:srgbClr val="1D8C61"/>
                </a:solidFill>
                <a:latin typeface="Arial"/>
                <a:ea typeface="Arial"/>
                <a:cs typeface="Arial"/>
              </a:rPr>
              <a:t>Shasta approval confirmed. The server-side demo owner wallet signed this session.</a:t>
            </a:r>
          </a:p>
        </p:txBody>
      </p:sp>
    </p:spTree>
    <p:extLst>
      <p:ext uri="{BB962C8B-B14F-4D97-AF65-F5344CB8AC3E}">
        <p14:creationId xmlns:p14="http://schemas.microsoft.com/office/powerpoint/2010/main" val="1643798793"/>
      </p:ext>
    </p:extLst>
  </p:cSld>
</p:sld>
</file>

<file path=ppt/slides/slide4.xml><?xml version="1.0" encoding="utf-8"?>
<p:sld xmlns:p="http://schemas.openxmlformats.org/presentationml/2006/main">
  <p:cSld>
    <p:bg>
      <p:bgPr>
        <a:solidFill xmlns:a="http://schemas.openxmlformats.org/drawingml/2006/main">
          <a:srgbClr val="09221C"/>
        </a:solidFill>
      </p:bgPr>
    </p:bg>
    <p:spTree>
      <p:nvGrpSpPr>
        <p:cNvPr id="1" name=""/>
        <p:cNvGrpSpPr/>
        <p:nvPr/>
      </p:nvGrpSpPr>
      <p:grpSpPr>
        <a:xfrm xmlns:a="http://schemas.openxmlformats.org/drawingml/2006/main"/>
      </p:grpSpPr>
      <p:sp>
        <p:nvSpPr>
          <p:cNvPr id="27" name="text-15">
            <a:extLst xmlns:a="http://schemas.openxmlformats.org/drawingml/2006/main">
              <a:ext uri="{FF2B5EF4-FFF2-40B4-BE49-F238E27FC236}">
                <a16:creationId xmlns:a16="http://schemas.microsoft.com/office/drawing/2014/main" id="{4F4EDA08-FCCF-4656-B593-68EE1B3F5013}"/>
              </a:ext>
            </a:extLst>
          </p:cNvPr>
          <p:cNvSpPr>
            <a:spLocks xmlns:a="http://schemas.openxmlformats.org/drawingml/2006/main" noGrp="1"/>
          </p:cNvSpPr>
          <p:nvPr/>
        </p:nvSpPr>
        <p:spPr>
          <a:xfrm xmlns:a="http://schemas.openxmlformats.org/drawingml/2006/main">
            <a:off x="666750" y="523875"/>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Four decisions from one dinner task</a:t>
            </a:r>
          </a:p>
        </p:txBody>
      </p:sp>
      <p:sp>
        <p:nvSpPr>
          <p:cNvPr id="2" name="text-16">
            <a:extLst xmlns:a="http://schemas.openxmlformats.org/drawingml/2006/main">
              <a:ext uri="{FF2B5EF4-FFF2-40B4-BE49-F238E27FC236}">
                <a16:creationId xmlns:a16="http://schemas.microsoft.com/office/drawing/2014/main" id="{B15736D6-9093-4980-886C-2817234947CB}"/>
              </a:ext>
            </a:extLst>
          </p:cNvPr>
          <p:cNvSpPr>
            <a:spLocks xmlns:a="http://schemas.openxmlformats.org/drawingml/2006/main" noGrp="1"/>
          </p:cNvSpPr>
          <p:nvPr/>
        </p:nvSpPr>
        <p:spPr>
          <a:xfrm xmlns:a="http://schemas.openxmlformats.org/drawingml/2006/main">
            <a:off x="704850" y="14859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ABA0"/>
                </a:solidFill>
                <a:latin typeface="Arial"/>
                <a:ea typeface="Arial"/>
                <a:cs typeface="Arial"/>
              </a:defRPr>
            </a:pPr>
            <a:r>
              <a:rPr sz="4050" b="1">
                <a:solidFill>
                  <a:srgbClr val="FFABA0"/>
                </a:solidFill>
                <a:latin typeface="Arial"/>
                <a:ea typeface="Arial"/>
                <a:cs typeface="Arial"/>
              </a:rPr>
              <a:t>A</a:t>
            </a:r>
          </a:p>
        </p:txBody>
      </p:sp>
      <p:sp>
        <p:nvSpPr>
          <p:cNvPr id="3" name="text-17">
            <a:extLst xmlns:a="http://schemas.openxmlformats.org/drawingml/2006/main">
              <a:ext uri="{FF2B5EF4-FFF2-40B4-BE49-F238E27FC236}">
                <a16:creationId xmlns:a16="http://schemas.microsoft.com/office/drawing/2014/main" id="{D6DDAFD0-3F5F-45EB-9293-16C117075910}"/>
              </a:ext>
            </a:extLst>
          </p:cNvPr>
          <p:cNvSpPr>
            <a:spLocks xmlns:a="http://schemas.openxmlformats.org/drawingml/2006/main" noGrp="1"/>
          </p:cNvSpPr>
          <p:nvPr/>
        </p:nvSpPr>
        <p:spPr>
          <a:xfrm xmlns:a="http://schemas.openxmlformats.org/drawingml/2006/main">
            <a:off x="1619250" y="1495425"/>
            <a:ext cx="895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19</a:t>
            </a:r>
          </a:p>
        </p:txBody>
      </p:sp>
      <p:sp>
        <p:nvSpPr>
          <p:cNvPr id="4" name="text-18">
            <a:extLst xmlns:a="http://schemas.openxmlformats.org/drawingml/2006/main">
              <a:ext uri="{FF2B5EF4-FFF2-40B4-BE49-F238E27FC236}">
                <a16:creationId xmlns:a16="http://schemas.microsoft.com/office/drawing/2014/main" id="{61965886-3413-4A50-980E-13624DF66DFA}"/>
              </a:ext>
            </a:extLst>
          </p:cNvPr>
          <p:cNvSpPr>
            <a:spLocks xmlns:a="http://schemas.openxmlformats.org/drawingml/2006/main" noGrp="1"/>
          </p:cNvSpPr>
          <p:nvPr/>
        </p:nvSpPr>
        <p:spPr>
          <a:xfrm xmlns:a="http://schemas.openxmlformats.org/drawingml/2006/main">
            <a:off x="2543175" y="17526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4776A"/>
                </a:solidFill>
                <a:latin typeface="Arial"/>
                <a:ea typeface="Arial"/>
                <a:cs typeface="Arial"/>
              </a:defRPr>
            </a:pPr>
            <a:r>
              <a:rPr sz="1500" b="1">
                <a:solidFill>
                  <a:srgbClr val="64776A"/>
                </a:solidFill>
                <a:latin typeface="Arial"/>
                <a:ea typeface="Arial"/>
                <a:cs typeface="Arial"/>
              </a:rPr>
              <a:t>TRX</a:t>
            </a:r>
          </a:p>
        </p:txBody>
      </p:sp>
      <p:sp>
        <p:nvSpPr>
          <p:cNvPr id="5" name="text-19">
            <a:extLst xmlns:a="http://schemas.openxmlformats.org/drawingml/2006/main">
              <a:ext uri="{FF2B5EF4-FFF2-40B4-BE49-F238E27FC236}">
                <a16:creationId xmlns:a16="http://schemas.microsoft.com/office/drawing/2014/main" id="{580B6020-E0FA-4394-BA6D-ED7412F3F132}"/>
              </a:ext>
            </a:extLst>
          </p:cNvPr>
          <p:cNvSpPr>
            <a:spLocks xmlns:a="http://schemas.openxmlformats.org/drawingml/2006/main" noGrp="1"/>
          </p:cNvSpPr>
          <p:nvPr/>
        </p:nvSpPr>
        <p:spPr>
          <a:xfrm xmlns:a="http://schemas.openxmlformats.org/drawingml/2006/main">
            <a:off x="3505200" y="1495425"/>
            <a:ext cx="594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Fees push the total above 18</a:t>
            </a:r>
          </a:p>
        </p:txBody>
      </p:sp>
      <p:sp>
        <p:nvSpPr>
          <p:cNvPr id="6" name="text-20">
            <a:extLst xmlns:a="http://schemas.openxmlformats.org/drawingml/2006/main">
              <a:ext uri="{FF2B5EF4-FFF2-40B4-BE49-F238E27FC236}">
                <a16:creationId xmlns:a16="http://schemas.microsoft.com/office/drawing/2014/main" id="{1F12AF22-2773-4507-A713-89272E539F78}"/>
              </a:ext>
            </a:extLst>
          </p:cNvPr>
          <p:cNvSpPr>
            <a:spLocks xmlns:a="http://schemas.openxmlformats.org/drawingml/2006/main" noGrp="1"/>
          </p:cNvSpPr>
          <p:nvPr/>
        </p:nvSpPr>
        <p:spPr>
          <a:xfrm xmlns:a="http://schemas.openxmlformats.org/drawingml/2006/main">
            <a:off x="3524250" y="19145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4B9AD"/>
                </a:solidFill>
                <a:latin typeface="Arial"/>
                <a:ea typeface="Arial"/>
                <a:cs typeface="Arial"/>
              </a:defRPr>
            </a:pPr>
            <a:r>
              <a:rPr sz="1500" b="0">
                <a:solidFill>
                  <a:srgbClr val="A4B9AD"/>
                </a:solidFill>
                <a:latin typeface="Arial"/>
                <a:ea typeface="Arial"/>
                <a:cs typeface="Arial"/>
              </a:rPr>
              <a:t>AttemptRejected, 54d18e2d...33c2fb</a:t>
            </a:r>
          </a:p>
        </p:txBody>
      </p:sp>
      <p:sp>
        <p:nvSpPr>
          <p:cNvPr id="7" name="text-21">
            <a:extLst xmlns:a="http://schemas.openxmlformats.org/drawingml/2006/main">
              <a:ext uri="{FF2B5EF4-FFF2-40B4-BE49-F238E27FC236}">
                <a16:creationId xmlns:a16="http://schemas.microsoft.com/office/drawing/2014/main" id="{6C56DACD-42F7-404D-B9B9-2E4B8290196F}"/>
              </a:ext>
            </a:extLst>
          </p:cNvPr>
          <p:cNvSpPr>
            <a:spLocks xmlns:a="http://schemas.openxmlformats.org/drawingml/2006/main" noGrp="1"/>
          </p:cNvSpPr>
          <p:nvPr/>
        </p:nvSpPr>
        <p:spPr>
          <a:xfrm xmlns:a="http://schemas.openxmlformats.org/drawingml/2006/main">
            <a:off x="9763125" y="1685925"/>
            <a:ext cx="1752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650" b="1">
                <a:solidFill>
                  <a:srgbClr val="FFABA0"/>
                </a:solidFill>
                <a:latin typeface="Arial"/>
                <a:ea typeface="Arial"/>
                <a:cs typeface="Arial"/>
              </a:defRPr>
            </a:pPr>
            <a:r>
              <a:rPr sz="1650" b="1">
                <a:solidFill>
                  <a:srgbClr val="FFABA0"/>
                </a:solidFill>
                <a:latin typeface="Arial"/>
                <a:ea typeface="Arial"/>
                <a:cs typeface="Arial"/>
              </a:rPr>
              <a:t>BLOCKED</a:t>
            </a:r>
          </a:p>
        </p:txBody>
      </p:sp>
      <p:sp>
        <p:nvSpPr>
          <p:cNvPr id="8" name="text-22">
            <a:extLst xmlns:a="http://schemas.openxmlformats.org/drawingml/2006/main">
              <a:ext uri="{FF2B5EF4-FFF2-40B4-BE49-F238E27FC236}">
                <a16:creationId xmlns:a16="http://schemas.microsoft.com/office/drawing/2014/main" id="{8D9A2070-53B9-430E-A0E7-6C19BB8D1916}"/>
              </a:ext>
            </a:extLst>
          </p:cNvPr>
          <p:cNvSpPr>
            <a:spLocks xmlns:a="http://schemas.openxmlformats.org/drawingml/2006/main" noGrp="1"/>
          </p:cNvSpPr>
          <p:nvPr/>
        </p:nvSpPr>
        <p:spPr>
          <a:xfrm xmlns:a="http://schemas.openxmlformats.org/drawingml/2006/main">
            <a:off x="704850" y="25527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ABA0"/>
                </a:solidFill>
                <a:latin typeface="Arial"/>
                <a:ea typeface="Arial"/>
                <a:cs typeface="Arial"/>
              </a:defRPr>
            </a:pPr>
            <a:r>
              <a:rPr sz="4050" b="1">
                <a:solidFill>
                  <a:srgbClr val="FFABA0"/>
                </a:solidFill>
                <a:latin typeface="Arial"/>
                <a:ea typeface="Arial"/>
                <a:cs typeface="Arial"/>
              </a:rPr>
              <a:t>B</a:t>
            </a:r>
          </a:p>
        </p:txBody>
      </p:sp>
      <p:sp>
        <p:nvSpPr>
          <p:cNvPr id="9" name="text-23">
            <a:extLst xmlns:a="http://schemas.openxmlformats.org/drawingml/2006/main">
              <a:ext uri="{FF2B5EF4-FFF2-40B4-BE49-F238E27FC236}">
                <a16:creationId xmlns:a16="http://schemas.microsoft.com/office/drawing/2014/main" id="{9F4E4BD4-F078-4120-A846-9578849906C2}"/>
              </a:ext>
            </a:extLst>
          </p:cNvPr>
          <p:cNvSpPr>
            <a:spLocks xmlns:a="http://schemas.openxmlformats.org/drawingml/2006/main" noGrp="1"/>
          </p:cNvSpPr>
          <p:nvPr/>
        </p:nvSpPr>
        <p:spPr>
          <a:xfrm xmlns:a="http://schemas.openxmlformats.org/drawingml/2006/main">
            <a:off x="1619250" y="2562225"/>
            <a:ext cx="895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14</a:t>
            </a:r>
          </a:p>
        </p:txBody>
      </p:sp>
      <p:sp>
        <p:nvSpPr>
          <p:cNvPr id="10" name="text-24">
            <a:extLst xmlns:a="http://schemas.openxmlformats.org/drawingml/2006/main">
              <a:ext uri="{FF2B5EF4-FFF2-40B4-BE49-F238E27FC236}">
                <a16:creationId xmlns:a16="http://schemas.microsoft.com/office/drawing/2014/main" id="{1AA8B699-75FE-478E-9846-F1FF99B484C4}"/>
              </a:ext>
            </a:extLst>
          </p:cNvPr>
          <p:cNvSpPr>
            <a:spLocks xmlns:a="http://schemas.openxmlformats.org/drawingml/2006/main" noGrp="1"/>
          </p:cNvSpPr>
          <p:nvPr/>
        </p:nvSpPr>
        <p:spPr>
          <a:xfrm xmlns:a="http://schemas.openxmlformats.org/drawingml/2006/main">
            <a:off x="2543175" y="28194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4776A"/>
                </a:solidFill>
                <a:latin typeface="Arial"/>
                <a:ea typeface="Arial"/>
                <a:cs typeface="Arial"/>
              </a:defRPr>
            </a:pPr>
            <a:r>
              <a:rPr sz="1500" b="1">
                <a:solidFill>
                  <a:srgbClr val="64776A"/>
                </a:solidFill>
                <a:latin typeface="Arial"/>
                <a:ea typeface="Arial"/>
                <a:cs typeface="Arial"/>
              </a:rPr>
              <a:t>TRX</a:t>
            </a:r>
          </a:p>
        </p:txBody>
      </p:sp>
      <p:sp>
        <p:nvSpPr>
          <p:cNvPr id="11" name="text-25">
            <a:extLst xmlns:a="http://schemas.openxmlformats.org/drawingml/2006/main">
              <a:ext uri="{FF2B5EF4-FFF2-40B4-BE49-F238E27FC236}">
                <a16:creationId xmlns:a16="http://schemas.microsoft.com/office/drawing/2014/main" id="{8E36B497-19BC-4E0F-A9B1-6BB469B2E91B}"/>
              </a:ext>
            </a:extLst>
          </p:cNvPr>
          <p:cNvSpPr>
            <a:spLocks xmlns:a="http://schemas.openxmlformats.org/drawingml/2006/main" noGrp="1"/>
          </p:cNvSpPr>
          <p:nvPr/>
        </p:nvSpPr>
        <p:spPr>
          <a:xfrm xmlns:a="http://schemas.openxmlformats.org/drawingml/2006/main">
            <a:off x="3505200" y="2562225"/>
            <a:ext cx="594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Merchant address is not approved</a:t>
            </a:r>
          </a:p>
        </p:txBody>
      </p:sp>
      <p:sp>
        <p:nvSpPr>
          <p:cNvPr id="12" name="text-26">
            <a:extLst xmlns:a="http://schemas.openxmlformats.org/drawingml/2006/main">
              <a:ext uri="{FF2B5EF4-FFF2-40B4-BE49-F238E27FC236}">
                <a16:creationId xmlns:a16="http://schemas.microsoft.com/office/drawing/2014/main" id="{C49D90E2-0D39-4677-B72E-EDDA7A3FFB34}"/>
              </a:ext>
            </a:extLst>
          </p:cNvPr>
          <p:cNvSpPr>
            <a:spLocks xmlns:a="http://schemas.openxmlformats.org/drawingml/2006/main" noGrp="1"/>
          </p:cNvSpPr>
          <p:nvPr/>
        </p:nvSpPr>
        <p:spPr>
          <a:xfrm xmlns:a="http://schemas.openxmlformats.org/drawingml/2006/main">
            <a:off x="3524250" y="29813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4B9AD"/>
                </a:solidFill>
                <a:latin typeface="Arial"/>
                <a:ea typeface="Arial"/>
                <a:cs typeface="Arial"/>
              </a:defRPr>
            </a:pPr>
            <a:r>
              <a:rPr sz="1500" b="0">
                <a:solidFill>
                  <a:srgbClr val="A4B9AD"/>
                </a:solidFill>
                <a:latin typeface="Arial"/>
                <a:ea typeface="Arial"/>
                <a:cs typeface="Arial"/>
              </a:rPr>
              <a:t>AttemptRejected, 1b545a26...b317a5</a:t>
            </a:r>
          </a:p>
        </p:txBody>
      </p:sp>
      <p:sp>
        <p:nvSpPr>
          <p:cNvPr id="13" name="text-27">
            <a:extLst xmlns:a="http://schemas.openxmlformats.org/drawingml/2006/main">
              <a:ext uri="{FF2B5EF4-FFF2-40B4-BE49-F238E27FC236}">
                <a16:creationId xmlns:a16="http://schemas.microsoft.com/office/drawing/2014/main" id="{49C2D075-11A7-4DCF-85A1-004755E906A3}"/>
              </a:ext>
            </a:extLst>
          </p:cNvPr>
          <p:cNvSpPr>
            <a:spLocks xmlns:a="http://schemas.openxmlformats.org/drawingml/2006/main" noGrp="1"/>
          </p:cNvSpPr>
          <p:nvPr/>
        </p:nvSpPr>
        <p:spPr>
          <a:xfrm xmlns:a="http://schemas.openxmlformats.org/drawingml/2006/main">
            <a:off x="9763125" y="2752725"/>
            <a:ext cx="1752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650" b="1">
                <a:solidFill>
                  <a:srgbClr val="FFABA0"/>
                </a:solidFill>
                <a:latin typeface="Arial"/>
                <a:ea typeface="Arial"/>
                <a:cs typeface="Arial"/>
              </a:defRPr>
            </a:pPr>
            <a:r>
              <a:rPr sz="1650" b="1">
                <a:solidFill>
                  <a:srgbClr val="FFABA0"/>
                </a:solidFill>
                <a:latin typeface="Arial"/>
                <a:ea typeface="Arial"/>
                <a:cs typeface="Arial"/>
              </a:rPr>
              <a:t>BLOCKED</a:t>
            </a:r>
          </a:p>
        </p:txBody>
      </p:sp>
      <p:sp>
        <p:nvSpPr>
          <p:cNvPr id="14" name="text-28">
            <a:extLst xmlns:a="http://schemas.openxmlformats.org/drawingml/2006/main">
              <a:ext uri="{FF2B5EF4-FFF2-40B4-BE49-F238E27FC236}">
                <a16:creationId xmlns:a16="http://schemas.microsoft.com/office/drawing/2014/main" id="{464B8BCF-6C85-4263-830F-89C29F6CE487}"/>
              </a:ext>
            </a:extLst>
          </p:cNvPr>
          <p:cNvSpPr>
            <a:spLocks xmlns:a="http://schemas.openxmlformats.org/drawingml/2006/main" noGrp="1"/>
          </p:cNvSpPr>
          <p:nvPr/>
        </p:nvSpPr>
        <p:spPr>
          <a:xfrm xmlns:a="http://schemas.openxmlformats.org/drawingml/2006/main">
            <a:off x="704850" y="36195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70D5A2"/>
                </a:solidFill>
                <a:latin typeface="Arial"/>
                <a:ea typeface="Arial"/>
                <a:cs typeface="Arial"/>
              </a:defRPr>
            </a:pPr>
            <a:r>
              <a:rPr sz="4050" b="1">
                <a:solidFill>
                  <a:srgbClr val="70D5A2"/>
                </a:solidFill>
                <a:latin typeface="Arial"/>
                <a:ea typeface="Arial"/>
                <a:cs typeface="Arial"/>
              </a:rPr>
              <a:t>C</a:t>
            </a:r>
          </a:p>
        </p:txBody>
      </p:sp>
      <p:sp>
        <p:nvSpPr>
          <p:cNvPr id="15" name="text-29">
            <a:extLst xmlns:a="http://schemas.openxmlformats.org/drawingml/2006/main">
              <a:ext uri="{FF2B5EF4-FFF2-40B4-BE49-F238E27FC236}">
                <a16:creationId xmlns:a16="http://schemas.microsoft.com/office/drawing/2014/main" id="{2D8624D2-B72B-47BE-AFA3-D4F9E8C8D6CC}"/>
              </a:ext>
            </a:extLst>
          </p:cNvPr>
          <p:cNvSpPr>
            <a:spLocks xmlns:a="http://schemas.openxmlformats.org/drawingml/2006/main" noGrp="1"/>
          </p:cNvSpPr>
          <p:nvPr/>
        </p:nvSpPr>
        <p:spPr>
          <a:xfrm xmlns:a="http://schemas.openxmlformats.org/drawingml/2006/main">
            <a:off x="1619250" y="3629025"/>
            <a:ext cx="895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16</a:t>
            </a:r>
          </a:p>
        </p:txBody>
      </p:sp>
      <p:sp>
        <p:nvSpPr>
          <p:cNvPr id="16" name="text-30">
            <a:extLst xmlns:a="http://schemas.openxmlformats.org/drawingml/2006/main">
              <a:ext uri="{FF2B5EF4-FFF2-40B4-BE49-F238E27FC236}">
                <a16:creationId xmlns:a16="http://schemas.microsoft.com/office/drawing/2014/main" id="{9A88A2D4-7530-4FD2-802D-CF142768CDAC}"/>
              </a:ext>
            </a:extLst>
          </p:cNvPr>
          <p:cNvSpPr>
            <a:spLocks xmlns:a="http://schemas.openxmlformats.org/drawingml/2006/main" noGrp="1"/>
          </p:cNvSpPr>
          <p:nvPr/>
        </p:nvSpPr>
        <p:spPr>
          <a:xfrm xmlns:a="http://schemas.openxmlformats.org/drawingml/2006/main">
            <a:off x="2543175" y="38862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4776A"/>
                </a:solidFill>
                <a:latin typeface="Arial"/>
                <a:ea typeface="Arial"/>
                <a:cs typeface="Arial"/>
              </a:defRPr>
            </a:pPr>
            <a:r>
              <a:rPr sz="1500" b="1">
                <a:solidFill>
                  <a:srgbClr val="64776A"/>
                </a:solidFill>
                <a:latin typeface="Arial"/>
                <a:ea typeface="Arial"/>
                <a:cs typeface="Arial"/>
              </a:rPr>
              <a:t>TRX</a:t>
            </a:r>
          </a:p>
        </p:txBody>
      </p:sp>
      <p:sp>
        <p:nvSpPr>
          <p:cNvPr id="17" name="text-31">
            <a:extLst xmlns:a="http://schemas.openxmlformats.org/drawingml/2006/main">
              <a:ext uri="{FF2B5EF4-FFF2-40B4-BE49-F238E27FC236}">
                <a16:creationId xmlns:a16="http://schemas.microsoft.com/office/drawing/2014/main" id="{AF16F861-7443-4883-8103-B0F614CA5C6F}"/>
              </a:ext>
            </a:extLst>
          </p:cNvPr>
          <p:cNvSpPr>
            <a:spLocks xmlns:a="http://schemas.openxmlformats.org/drawingml/2006/main" noGrp="1"/>
          </p:cNvSpPr>
          <p:nvPr/>
        </p:nvSpPr>
        <p:spPr>
          <a:xfrm xmlns:a="http://schemas.openxmlformats.org/drawingml/2006/main">
            <a:off x="3505200" y="3629025"/>
            <a:ext cx="594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Approved payee, price within limit</a:t>
            </a:r>
          </a:p>
        </p:txBody>
      </p:sp>
      <p:sp>
        <p:nvSpPr>
          <p:cNvPr id="18" name="text-32">
            <a:extLst xmlns:a="http://schemas.openxmlformats.org/drawingml/2006/main">
              <a:ext uri="{FF2B5EF4-FFF2-40B4-BE49-F238E27FC236}">
                <a16:creationId xmlns:a16="http://schemas.microsoft.com/office/drawing/2014/main" id="{37485383-DC08-4C99-819F-20024A404900}"/>
              </a:ext>
            </a:extLst>
          </p:cNvPr>
          <p:cNvSpPr>
            <a:spLocks xmlns:a="http://schemas.openxmlformats.org/drawingml/2006/main" noGrp="1"/>
          </p:cNvSpPr>
          <p:nvPr/>
        </p:nvSpPr>
        <p:spPr>
          <a:xfrm xmlns:a="http://schemas.openxmlformats.org/drawingml/2006/main">
            <a:off x="3524250" y="40481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4B9AD"/>
                </a:solidFill>
                <a:latin typeface="Arial"/>
                <a:ea typeface="Arial"/>
                <a:cs typeface="Arial"/>
              </a:defRPr>
            </a:pPr>
            <a:r>
              <a:rPr sz="1500" b="0">
                <a:solidFill>
                  <a:srgbClr val="A4B9AD"/>
                </a:solidFill>
                <a:latin typeface="Arial"/>
                <a:ea typeface="Arial"/>
                <a:cs typeface="Arial"/>
              </a:rPr>
              <a:t>PaymentExecuted, fe89db22...7ce2ed</a:t>
            </a:r>
          </a:p>
        </p:txBody>
      </p:sp>
      <p:sp>
        <p:nvSpPr>
          <p:cNvPr id="19" name="text-33">
            <a:extLst xmlns:a="http://schemas.openxmlformats.org/drawingml/2006/main">
              <a:ext uri="{FF2B5EF4-FFF2-40B4-BE49-F238E27FC236}">
                <a16:creationId xmlns:a16="http://schemas.microsoft.com/office/drawing/2014/main" id="{FE6D53B3-4C60-42D8-A2F2-A522A9262FD6}"/>
              </a:ext>
            </a:extLst>
          </p:cNvPr>
          <p:cNvSpPr>
            <a:spLocks xmlns:a="http://schemas.openxmlformats.org/drawingml/2006/main" noGrp="1"/>
          </p:cNvSpPr>
          <p:nvPr/>
        </p:nvSpPr>
        <p:spPr>
          <a:xfrm xmlns:a="http://schemas.openxmlformats.org/drawingml/2006/main">
            <a:off x="9763125" y="3819525"/>
            <a:ext cx="1752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650" b="1">
                <a:solidFill>
                  <a:srgbClr val="70D5A2"/>
                </a:solidFill>
                <a:latin typeface="Arial"/>
                <a:ea typeface="Arial"/>
                <a:cs typeface="Arial"/>
              </a:defRPr>
            </a:pPr>
            <a:r>
              <a:rPr sz="1650" b="1">
                <a:solidFill>
                  <a:srgbClr val="70D5A2"/>
                </a:solidFill>
                <a:latin typeface="Arial"/>
                <a:ea typeface="Arial"/>
                <a:cs typeface="Arial"/>
              </a:rPr>
              <a:t>PAID</a:t>
            </a:r>
          </a:p>
        </p:txBody>
      </p:sp>
      <p:sp>
        <p:nvSpPr>
          <p:cNvPr id="20" name="text-34">
            <a:extLst xmlns:a="http://schemas.openxmlformats.org/drawingml/2006/main">
              <a:ext uri="{FF2B5EF4-FFF2-40B4-BE49-F238E27FC236}">
                <a16:creationId xmlns:a16="http://schemas.microsoft.com/office/drawing/2014/main" id="{4C13B12E-9FFF-48B1-B126-C60D6AE8FD58}"/>
              </a:ext>
            </a:extLst>
          </p:cNvPr>
          <p:cNvSpPr>
            <a:spLocks xmlns:a="http://schemas.openxmlformats.org/drawingml/2006/main" noGrp="1"/>
          </p:cNvSpPr>
          <p:nvPr/>
        </p:nvSpPr>
        <p:spPr>
          <a:xfrm xmlns:a="http://schemas.openxmlformats.org/drawingml/2006/main">
            <a:off x="704850" y="4686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ABA0"/>
                </a:solidFill>
                <a:latin typeface="Arial"/>
                <a:ea typeface="Arial"/>
                <a:cs typeface="Arial"/>
              </a:defRPr>
            </a:pPr>
            <a:r>
              <a:rPr sz="4050" b="1">
                <a:solidFill>
                  <a:srgbClr val="FFABA0"/>
                </a:solidFill>
                <a:latin typeface="Arial"/>
                <a:ea typeface="Arial"/>
                <a:cs typeface="Arial"/>
              </a:rPr>
              <a:t>D</a:t>
            </a:r>
          </a:p>
        </p:txBody>
      </p:sp>
      <p:sp>
        <p:nvSpPr>
          <p:cNvPr id="21" name="text-35">
            <a:extLst xmlns:a="http://schemas.openxmlformats.org/drawingml/2006/main">
              <a:ext uri="{FF2B5EF4-FFF2-40B4-BE49-F238E27FC236}">
                <a16:creationId xmlns:a16="http://schemas.microsoft.com/office/drawing/2014/main" id="{9F903724-C546-4613-AAC8-AE81D101B950}"/>
              </a:ext>
            </a:extLst>
          </p:cNvPr>
          <p:cNvSpPr>
            <a:spLocks xmlns:a="http://schemas.openxmlformats.org/drawingml/2006/main" noGrp="1"/>
          </p:cNvSpPr>
          <p:nvPr/>
        </p:nvSpPr>
        <p:spPr>
          <a:xfrm xmlns:a="http://schemas.openxmlformats.org/drawingml/2006/main">
            <a:off x="1619250" y="4695825"/>
            <a:ext cx="895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1</a:t>
            </a:r>
          </a:p>
        </p:txBody>
      </p:sp>
      <p:sp>
        <p:nvSpPr>
          <p:cNvPr id="22" name="text-36">
            <a:extLst xmlns:a="http://schemas.openxmlformats.org/drawingml/2006/main">
              <a:ext uri="{FF2B5EF4-FFF2-40B4-BE49-F238E27FC236}">
                <a16:creationId xmlns:a16="http://schemas.microsoft.com/office/drawing/2014/main" id="{E7A9E3C3-DD47-4B95-948F-41E4D0BFEAFE}"/>
              </a:ext>
            </a:extLst>
          </p:cNvPr>
          <p:cNvSpPr>
            <a:spLocks xmlns:a="http://schemas.openxmlformats.org/drawingml/2006/main" noGrp="1"/>
          </p:cNvSpPr>
          <p:nvPr/>
        </p:nvSpPr>
        <p:spPr>
          <a:xfrm xmlns:a="http://schemas.openxmlformats.org/drawingml/2006/main">
            <a:off x="2543175" y="49530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4776A"/>
                </a:solidFill>
                <a:latin typeface="Arial"/>
                <a:ea typeface="Arial"/>
                <a:cs typeface="Arial"/>
              </a:defRPr>
            </a:pPr>
            <a:r>
              <a:rPr sz="1500" b="1">
                <a:solidFill>
                  <a:srgbClr val="64776A"/>
                </a:solidFill>
                <a:latin typeface="Arial"/>
                <a:ea typeface="Arial"/>
                <a:cs typeface="Arial"/>
              </a:rPr>
              <a:t>TRX</a:t>
            </a:r>
          </a:p>
        </p:txBody>
      </p:sp>
      <p:sp>
        <p:nvSpPr>
          <p:cNvPr id="23" name="text-37">
            <a:extLst xmlns:a="http://schemas.openxmlformats.org/drawingml/2006/main">
              <a:ext uri="{FF2B5EF4-FFF2-40B4-BE49-F238E27FC236}">
                <a16:creationId xmlns:a16="http://schemas.microsoft.com/office/drawing/2014/main" id="{FB275B8C-1EFA-4810-9D32-DE0F4CE37978}"/>
              </a:ext>
            </a:extLst>
          </p:cNvPr>
          <p:cNvSpPr>
            <a:spLocks xmlns:a="http://schemas.openxmlformats.org/drawingml/2006/main" noGrp="1"/>
          </p:cNvSpPr>
          <p:nvPr/>
        </p:nvSpPr>
        <p:spPr>
          <a:xfrm xmlns:a="http://schemas.openxmlformats.org/drawingml/2006/main">
            <a:off x="3505200" y="4695825"/>
            <a:ext cx="594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After confirmed Stop</a:t>
            </a:r>
          </a:p>
        </p:txBody>
      </p:sp>
      <p:sp>
        <p:nvSpPr>
          <p:cNvPr id="24" name="text-38">
            <a:extLst xmlns:a="http://schemas.openxmlformats.org/drawingml/2006/main">
              <a:ext uri="{FF2B5EF4-FFF2-40B4-BE49-F238E27FC236}">
                <a16:creationId xmlns:a16="http://schemas.microsoft.com/office/drawing/2014/main" id="{6F0AFCC7-2D95-4A11-8A80-AF8F5DA7E770}"/>
              </a:ext>
            </a:extLst>
          </p:cNvPr>
          <p:cNvSpPr>
            <a:spLocks xmlns:a="http://schemas.openxmlformats.org/drawingml/2006/main" noGrp="1"/>
          </p:cNvSpPr>
          <p:nvPr/>
        </p:nvSpPr>
        <p:spPr>
          <a:xfrm xmlns:a="http://schemas.openxmlformats.org/drawingml/2006/main">
            <a:off x="3524250" y="51149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4B9AD"/>
                </a:solidFill>
                <a:latin typeface="Arial"/>
                <a:ea typeface="Arial"/>
                <a:cs typeface="Arial"/>
              </a:defRPr>
            </a:pPr>
            <a:r>
              <a:rPr sz="1500" b="0">
                <a:solidFill>
                  <a:srgbClr val="A4B9AD"/>
                </a:solidFill>
                <a:latin typeface="Arial"/>
                <a:ea typeface="Arial"/>
                <a:cs typeface="Arial"/>
              </a:rPr>
              <a:t>AttemptRejected, 9f70dbc9...d2cdd9</a:t>
            </a:r>
          </a:p>
        </p:txBody>
      </p:sp>
      <p:sp>
        <p:nvSpPr>
          <p:cNvPr id="25" name="text-39">
            <a:extLst xmlns:a="http://schemas.openxmlformats.org/drawingml/2006/main">
              <a:ext uri="{FF2B5EF4-FFF2-40B4-BE49-F238E27FC236}">
                <a16:creationId xmlns:a16="http://schemas.microsoft.com/office/drawing/2014/main" id="{9F3D5EDD-0E08-4F8F-83E1-72A020BEF288}"/>
              </a:ext>
            </a:extLst>
          </p:cNvPr>
          <p:cNvSpPr>
            <a:spLocks xmlns:a="http://schemas.openxmlformats.org/drawingml/2006/main" noGrp="1"/>
          </p:cNvSpPr>
          <p:nvPr/>
        </p:nvSpPr>
        <p:spPr>
          <a:xfrm xmlns:a="http://schemas.openxmlformats.org/drawingml/2006/main">
            <a:off x="9763125" y="4886325"/>
            <a:ext cx="1752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650" b="1">
                <a:solidFill>
                  <a:srgbClr val="FFABA0"/>
                </a:solidFill>
                <a:latin typeface="Arial"/>
                <a:ea typeface="Arial"/>
                <a:cs typeface="Arial"/>
              </a:defRPr>
            </a:pPr>
            <a:r>
              <a:rPr sz="1650" b="1">
                <a:solidFill>
                  <a:srgbClr val="FFABA0"/>
                </a:solidFill>
                <a:latin typeface="Arial"/>
                <a:ea typeface="Arial"/>
                <a:cs typeface="Arial"/>
              </a:rPr>
              <a:t>BLOCKED</a:t>
            </a:r>
          </a:p>
        </p:txBody>
      </p:sp>
      <p:sp>
        <p:nvSpPr>
          <p:cNvPr id="26" name="text-40">
            <a:extLst xmlns:a="http://schemas.openxmlformats.org/drawingml/2006/main">
              <a:ext uri="{FF2B5EF4-FFF2-40B4-BE49-F238E27FC236}">
                <a16:creationId xmlns:a16="http://schemas.microsoft.com/office/drawing/2014/main" id="{7B18C846-7857-4C3C-B131-745F75CD9B91}"/>
              </a:ext>
            </a:extLst>
          </p:cNvPr>
          <p:cNvSpPr>
            <a:spLocks xmlns:a="http://schemas.openxmlformats.org/drawingml/2006/main" noGrp="1"/>
          </p:cNvSpPr>
          <p:nvPr/>
        </p:nvSpPr>
        <p:spPr>
          <a:xfrm xmlns:a="http://schemas.openxmlformats.org/drawingml/2006/main">
            <a:off x="685800" y="6172200"/>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E2B46A"/>
                </a:solidFill>
                <a:latin typeface="Arial"/>
                <a:ea typeface="Arial"/>
                <a:cs typeface="Arial"/>
              </a:defRPr>
            </a:pPr>
            <a:r>
              <a:rPr sz="1275" b="0">
                <a:solidFill>
                  <a:srgbClr val="E2B46A"/>
                </a:solidFill>
                <a:latin typeface="Arial"/>
                <a:ea typeface="Arial"/>
                <a:cs typeface="Arial"/>
              </a:rPr>
              <a:t>Four confirmed Shasta contract events. Restaurant quotes and delivery are simulated.</a:t>
            </a:r>
          </a:p>
        </p:txBody>
      </p:sp>
    </p:spTree>
    <p:extLst>
      <p:ext uri="{BB962C8B-B14F-4D97-AF65-F5344CB8AC3E}">
        <p14:creationId xmlns:p14="http://schemas.microsoft.com/office/powerpoint/2010/main" val="428932866"/>
      </p:ext>
    </p:extLst>
  </p:cSld>
</p:sld>
</file>

<file path=ppt/slides/slide5.xml><?xml version="1.0" encoding="utf-8"?>
<p:sld xmlns:p="http://schemas.openxmlformats.org/presentationml/2006/main">
  <p:cSld>
    <p:bg>
      <p:bgPr>
        <a:solidFill xmlns:a="http://schemas.openxmlformats.org/drawingml/2006/main">
          <a:srgbClr val="F7FAF7"/>
        </a:solidFill>
      </p:bgPr>
    </p:bg>
    <p:spTree>
      <p:nvGrpSpPr>
        <p:cNvPr id="1" name=""/>
        <p:cNvGrpSpPr/>
        <p:nvPr/>
      </p:nvGrpSpPr>
      <p:grpSpPr>
        <a:xfrm xmlns:a="http://schemas.openxmlformats.org/drawingml/2006/main"/>
      </p:grpSpPr>
      <p:sp>
        <p:nvSpPr>
          <p:cNvPr id="12" name="text-41">
            <a:extLst xmlns:a="http://schemas.openxmlformats.org/drawingml/2006/main">
              <a:ext uri="{FF2B5EF4-FFF2-40B4-BE49-F238E27FC236}">
                <a16:creationId xmlns:a16="http://schemas.microsoft.com/office/drawing/2014/main" id="{E4049AA4-F68E-4F6A-BB7B-9B427EF77ED9}"/>
              </a:ext>
            </a:extLst>
          </p:cNvPr>
          <p:cNvSpPr>
            <a:spLocks xmlns:a="http://schemas.openxmlformats.org/drawingml/2006/main" noGrp="1"/>
          </p:cNvSpPr>
          <p:nvPr/>
        </p:nvSpPr>
        <p:spPr>
          <a:xfrm xmlns:a="http://schemas.openxmlformats.org/drawingml/2006/main">
            <a:off x="666750" y="5334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33A2E"/>
                </a:solidFill>
                <a:latin typeface="Arial"/>
                <a:ea typeface="Arial"/>
                <a:cs typeface="Arial"/>
              </a:defRPr>
            </a:pPr>
            <a:r>
              <a:rPr sz="3450" b="1">
                <a:solidFill>
                  <a:srgbClr val="233A2E"/>
                </a:solidFill>
                <a:latin typeface="Arial"/>
                <a:ea typeface="Arial"/>
                <a:cs typeface="Arial"/>
              </a:rPr>
              <a:t>Independent audit of the payment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ad35c0306674f66"/>
          <a:stretch xmlns:a="http://schemas.openxmlformats.org/drawingml/2006/main"/>
        </p:blipFill>
        <p:spPr>
          <a:xfrm xmlns:a="http://schemas.openxmlformats.org/drawingml/2006/main">
            <a:off x="616351" y="1514475"/>
            <a:ext cx="6558749" cy="4219575"/>
          </a:xfrm>
          <a:prstGeom xmlns:a="http://schemas.openxmlformats.org/drawingml/2006/main" prst="rect">
            <a:avLst/>
          </a:prstGeom>
        </p:spPr>
      </p:pic>
      <p:sp>
        <p:nvSpPr>
          <p:cNvPr id="3" name="text-42">
            <a:extLst xmlns:a="http://schemas.openxmlformats.org/drawingml/2006/main">
              <a:ext uri="{FF2B5EF4-FFF2-40B4-BE49-F238E27FC236}">
                <a16:creationId xmlns:a16="http://schemas.microsoft.com/office/drawing/2014/main" id="{08E2E2F2-4FDF-432A-9249-735C630ECBCE}"/>
              </a:ext>
            </a:extLst>
          </p:cNvPr>
          <p:cNvSpPr>
            <a:spLocks xmlns:a="http://schemas.openxmlformats.org/drawingml/2006/main" noGrp="1"/>
          </p:cNvSpPr>
          <p:nvPr/>
        </p:nvSpPr>
        <p:spPr>
          <a:xfrm xmlns:a="http://schemas.openxmlformats.org/drawingml/2006/main">
            <a:off x="7534275" y="1543050"/>
            <a:ext cx="3924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D8C61"/>
                </a:solidFill>
                <a:latin typeface="Arial"/>
                <a:ea typeface="Arial"/>
                <a:cs typeface="Arial"/>
              </a:defRPr>
            </a:pPr>
            <a:r>
              <a:rPr sz="1275" b="1">
                <a:solidFill>
                  <a:srgbClr val="1D8C61"/>
                </a:solidFill>
                <a:latin typeface="Arial"/>
                <a:ea typeface="Arial"/>
                <a:cs typeface="Arial"/>
              </a:rPr>
              <a:t>AUDIT VERDICT</a:t>
            </a:r>
          </a:p>
        </p:txBody>
      </p:sp>
      <p:sp>
        <p:nvSpPr>
          <p:cNvPr id="4" name="text-43">
            <a:extLst xmlns:a="http://schemas.openxmlformats.org/drawingml/2006/main">
              <a:ext uri="{FF2B5EF4-FFF2-40B4-BE49-F238E27FC236}">
                <a16:creationId xmlns:a16="http://schemas.microsoft.com/office/drawing/2014/main" id="{9C9B2202-50CC-42A2-80EE-132F82938115}"/>
              </a:ext>
            </a:extLst>
          </p:cNvPr>
          <p:cNvSpPr>
            <a:spLocks xmlns:a="http://schemas.openxmlformats.org/drawingml/2006/main" noGrp="1"/>
          </p:cNvSpPr>
          <p:nvPr/>
        </p:nvSpPr>
        <p:spPr>
          <a:xfrm xmlns:a="http://schemas.openxmlformats.org/drawingml/2006/main">
            <a:off x="7524750" y="1943100"/>
            <a:ext cx="3857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1D8C61"/>
                </a:solidFill>
                <a:latin typeface="Arial"/>
                <a:ea typeface="Arial"/>
                <a:cs typeface="Arial"/>
              </a:defRPr>
            </a:pPr>
            <a:r>
              <a:rPr sz="5175" b="1">
                <a:solidFill>
                  <a:srgbClr val="1D8C61"/>
                </a:solidFill>
                <a:latin typeface="Arial"/>
                <a:ea typeface="Arial"/>
                <a:cs typeface="Arial"/>
              </a:rPr>
              <a:t>10 / 10</a:t>
            </a:r>
          </a:p>
        </p:txBody>
      </p:sp>
      <p:sp>
        <p:nvSpPr>
          <p:cNvPr id="5" name="text-44">
            <a:extLst xmlns:a="http://schemas.openxmlformats.org/drawingml/2006/main">
              <a:ext uri="{FF2B5EF4-FFF2-40B4-BE49-F238E27FC236}">
                <a16:creationId xmlns:a16="http://schemas.microsoft.com/office/drawing/2014/main" id="{6A6F0876-0603-4D2B-B071-B4571366D9BB}"/>
              </a:ext>
            </a:extLst>
          </p:cNvPr>
          <p:cNvSpPr>
            <a:spLocks xmlns:a="http://schemas.openxmlformats.org/drawingml/2006/main" noGrp="1"/>
          </p:cNvSpPr>
          <p:nvPr/>
        </p:nvSpPr>
        <p:spPr>
          <a:xfrm xmlns:a="http://schemas.openxmlformats.org/drawingml/2006/main">
            <a:off x="7534275" y="2781300"/>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3A2E"/>
                </a:solidFill>
                <a:latin typeface="Arial"/>
                <a:ea typeface="Arial"/>
                <a:cs typeface="Arial"/>
              </a:defRPr>
            </a:pPr>
            <a:r>
              <a:rPr sz="2175" b="1">
                <a:solidFill>
                  <a:srgbClr val="233A2E"/>
                </a:solidFill>
                <a:latin typeface="Arial"/>
                <a:ea typeface="Arial"/>
                <a:cs typeface="Arial"/>
              </a:rPr>
              <a:t>checks pass</a:t>
            </a:r>
          </a:p>
        </p:txBody>
      </p:sp>
      <p:sp>
        <p:nvSpPr>
          <p:cNvPr id="6" name="text-45">
            <a:extLst xmlns:a="http://schemas.openxmlformats.org/drawingml/2006/main">
              <a:ext uri="{FF2B5EF4-FFF2-40B4-BE49-F238E27FC236}">
                <a16:creationId xmlns:a16="http://schemas.microsoft.com/office/drawing/2014/main" id="{57E72A12-81FE-4FE9-92FB-66D85D144DEB}"/>
              </a:ext>
            </a:extLst>
          </p:cNvPr>
          <p:cNvSpPr>
            <a:spLocks xmlns:a="http://schemas.openxmlformats.org/drawingml/2006/main" noGrp="1"/>
          </p:cNvSpPr>
          <p:nvPr/>
        </p:nvSpPr>
        <p:spPr>
          <a:xfrm xmlns:a="http://schemas.openxmlformats.org/drawingml/2006/main">
            <a:off x="7534275" y="3390900"/>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76A"/>
                </a:solidFill>
                <a:latin typeface="Arial"/>
                <a:ea typeface="Arial"/>
                <a:cs typeface="Arial"/>
              </a:defRPr>
            </a:pPr>
            <a:r>
              <a:rPr sz="1575" b="0">
                <a:solidFill>
                  <a:srgbClr val="64776A"/>
                </a:solidFill>
                <a:latin typeface="Arial"/>
                <a:ea typeface="Arial"/>
                <a:cs typeface="Arial"/>
              </a:rPr>
              <a:t>Policy, quote, payee and Shasta events match.</a:t>
            </a:r>
          </a:p>
        </p:txBody>
      </p:sp>
      <p:sp>
        <p:nvSpPr>
          <p:cNvPr id="7" name="text-46">
            <a:extLst xmlns:a="http://schemas.openxmlformats.org/drawingml/2006/main">
              <a:ext uri="{FF2B5EF4-FFF2-40B4-BE49-F238E27FC236}">
                <a16:creationId xmlns:a16="http://schemas.microsoft.com/office/drawing/2014/main" id="{E5E80040-C257-44B9-9E6B-09A771AF1C4E}"/>
              </a:ext>
            </a:extLst>
          </p:cNvPr>
          <p:cNvSpPr>
            <a:spLocks xmlns:a="http://schemas.openxmlformats.org/drawingml/2006/main" noGrp="1"/>
          </p:cNvSpPr>
          <p:nvPr/>
        </p:nvSpPr>
        <p:spPr>
          <a:xfrm xmlns:a="http://schemas.openxmlformats.org/drawingml/2006/main">
            <a:off x="7534275" y="4391025"/>
            <a:ext cx="3857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D8C61"/>
                </a:solidFill>
                <a:latin typeface="Arial"/>
                <a:ea typeface="Arial"/>
                <a:cs typeface="Arial"/>
              </a:defRPr>
            </a:pPr>
            <a:r>
              <a:rPr sz="1275" b="1">
                <a:solidFill>
                  <a:srgbClr val="1D8C61"/>
                </a:solidFill>
                <a:latin typeface="Arial"/>
                <a:ea typeface="Arial"/>
                <a:cs typeface="Arial"/>
              </a:rPr>
              <a:t>PAYMENT RECEIPT</a:t>
            </a:r>
          </a:p>
        </p:txBody>
      </p:sp>
      <p:sp>
        <p:nvSpPr>
          <p:cNvPr id="8" name="text-47">
            <a:extLst xmlns:a="http://schemas.openxmlformats.org/drawingml/2006/main">
              <a:ext uri="{FF2B5EF4-FFF2-40B4-BE49-F238E27FC236}">
                <a16:creationId xmlns:a16="http://schemas.microsoft.com/office/drawing/2014/main" id="{51D43227-D3CF-4664-AC73-AC4A1D88323A}"/>
              </a:ext>
            </a:extLst>
          </p:cNvPr>
          <p:cNvSpPr>
            <a:spLocks xmlns:a="http://schemas.openxmlformats.org/drawingml/2006/main" noGrp="1"/>
          </p:cNvSpPr>
          <p:nvPr/>
        </p:nvSpPr>
        <p:spPr>
          <a:xfrm xmlns:a="http://schemas.openxmlformats.org/drawingml/2006/main">
            <a:off x="7524750" y="4810125"/>
            <a:ext cx="3914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3A2E"/>
                </a:solidFill>
                <a:latin typeface="Arial"/>
                <a:ea typeface="Arial"/>
                <a:cs typeface="Arial"/>
              </a:defRPr>
            </a:pPr>
            <a:r>
              <a:rPr sz="2175" b="1">
                <a:solidFill>
                  <a:srgbClr val="233A2E"/>
                </a:solidFill>
                <a:latin typeface="Arial"/>
                <a:ea typeface="Arial"/>
                <a:cs typeface="Arial"/>
              </a:rPr>
              <a:t>16 test TRX on Shasta</a:t>
            </a:r>
          </a:p>
        </p:txBody>
      </p:sp>
      <p:sp>
        <p:nvSpPr>
          <p:cNvPr id="9" name="text-48">
            <a:extLst xmlns:a="http://schemas.openxmlformats.org/drawingml/2006/main">
              <a:ext uri="{FF2B5EF4-FFF2-40B4-BE49-F238E27FC236}">
                <a16:creationId xmlns:a16="http://schemas.microsoft.com/office/drawing/2014/main" id="{F65F66DB-6E97-4402-9E90-64931B3CA5EE}"/>
              </a:ext>
            </a:extLst>
          </p:cNvPr>
          <p:cNvSpPr>
            <a:spLocks xmlns:a="http://schemas.openxmlformats.org/drawingml/2006/main" noGrp="1"/>
          </p:cNvSpPr>
          <p:nvPr/>
        </p:nvSpPr>
        <p:spPr>
          <a:xfrm xmlns:a="http://schemas.openxmlformats.org/drawingml/2006/main">
            <a:off x="7524750" y="5372100"/>
            <a:ext cx="3914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D8C61"/>
                </a:solidFill>
                <a:latin typeface="Arial"/>
                <a:ea typeface="Arial"/>
                <a:cs typeface="Arial"/>
              </a:defRPr>
            </a:pPr>
            <a:r>
              <a:rPr sz="1650" b="1">
                <a:solidFill>
                  <a:srgbClr val="1D8C61"/>
                </a:solidFill>
                <a:latin typeface="Arial"/>
                <a:ea typeface="Arial"/>
                <a:cs typeface="Arial"/>
              </a:rPr>
              <a:t>fe89db22...7ce2ed</a:t>
            </a:r>
          </a:p>
        </p:txBody>
      </p:sp>
      <p:sp>
        <p:nvSpPr>
          <p:cNvPr id="10" name="text-49">
            <a:extLst xmlns:a="http://schemas.openxmlformats.org/drawingml/2006/main">
              <a:ext uri="{FF2B5EF4-FFF2-40B4-BE49-F238E27FC236}">
                <a16:creationId xmlns:a16="http://schemas.microsoft.com/office/drawing/2014/main" id="{29216202-7BE8-4D67-A210-92820245CB64}"/>
              </a:ext>
            </a:extLst>
          </p:cNvPr>
          <p:cNvSpPr>
            <a:spLocks xmlns:a="http://schemas.openxmlformats.org/drawingml/2006/main" noGrp="1"/>
          </p:cNvSpPr>
          <p:nvPr/>
        </p:nvSpPr>
        <p:spPr>
          <a:xfrm xmlns:a="http://schemas.openxmlformats.org/drawingml/2006/main">
            <a:off x="7524750" y="580072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6A"/>
                </a:solidFill>
                <a:latin typeface="Arial"/>
                <a:ea typeface="Arial"/>
                <a:cs typeface="Arial"/>
              </a:defRPr>
            </a:pPr>
            <a:r>
              <a:rPr sz="1350" b="0">
                <a:solidFill>
                  <a:srgbClr val="64776A"/>
                </a:solidFill>
                <a:latin typeface="Arial"/>
                <a:ea typeface="Arial"/>
                <a:cs typeface="Arial"/>
              </a:rPr>
              <a:t>Session 0xc6ff6c...788b1d</a:t>
            </a:r>
          </a:p>
        </p:txBody>
      </p:sp>
      <p:sp>
        <p:nvSpPr>
          <p:cNvPr id="11" name="text-50">
            <a:extLst xmlns:a="http://schemas.openxmlformats.org/drawingml/2006/main">
              <a:ext uri="{FF2B5EF4-FFF2-40B4-BE49-F238E27FC236}">
                <a16:creationId xmlns:a16="http://schemas.microsoft.com/office/drawing/2014/main" id="{F3E25374-6BF1-47E9-9D5F-52BE1AE4B077}"/>
              </a:ext>
            </a:extLst>
          </p:cNvPr>
          <p:cNvSpPr>
            <a:spLocks xmlns:a="http://schemas.openxmlformats.org/drawingml/2006/main" noGrp="1"/>
          </p:cNvSpPr>
          <p:nvPr/>
        </p:nvSpPr>
        <p:spPr>
          <a:xfrm xmlns:a="http://schemas.openxmlformats.org/drawingml/2006/main">
            <a:off x="695325" y="624840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D8C61"/>
                </a:solidFill>
                <a:latin typeface="Arial"/>
                <a:ea typeface="Arial"/>
                <a:cs typeface="Arial"/>
              </a:defRPr>
            </a:pPr>
            <a:r>
              <a:rPr sz="1350" b="1">
                <a:solidFill>
                  <a:srgbClr val="1D8C61"/>
                </a:solidFill>
                <a:latin typeface="Arial"/>
                <a:ea typeface="Arial"/>
                <a:cs typeface="Arial"/>
              </a:rPr>
              <a:t>Merchant quotes and fulfillment are simulated. The financial authorization and events are testnet records.</a:t>
            </a:r>
          </a:p>
        </p:txBody>
      </p:sp>
    </p:spTree>
    <p:extLst>
      <p:ext uri="{BB962C8B-B14F-4D97-AF65-F5344CB8AC3E}">
        <p14:creationId xmlns:p14="http://schemas.microsoft.com/office/powerpoint/2010/main" val="1066673551"/>
      </p:ext>
    </p:extLst>
  </p:cSld>
</p:sld>
</file>

<file path=ppt/slides/slide6.xml><?xml version="1.0" encoding="utf-8"?>
<p:sld xmlns:p="http://schemas.openxmlformats.org/presentationml/2006/main">
  <p:cSld>
    <p:bg>
      <p:bgPr>
        <a:solidFill xmlns:a="http://schemas.openxmlformats.org/drawingml/2006/main">
          <a:srgbClr val="09221C"/>
        </a:solidFill>
      </p:bgPr>
    </p:bg>
    <p:spTree>
      <p:nvGrpSpPr>
        <p:cNvPr id="1" name=""/>
        <p:cNvGrpSpPr/>
        <p:nvPr/>
      </p:nvGrpSpPr>
      <p:grpSpPr>
        <a:xfrm xmlns:a="http://schemas.openxmlformats.org/drawingml/2006/main"/>
      </p:grpSpPr>
      <p:sp>
        <p:nvSpPr>
          <p:cNvPr id="16" name="text-51">
            <a:extLst xmlns:a="http://schemas.openxmlformats.org/drawingml/2006/main">
              <a:ext uri="{FF2B5EF4-FFF2-40B4-BE49-F238E27FC236}">
                <a16:creationId xmlns:a16="http://schemas.microsoft.com/office/drawing/2014/main" id="{78AAFB4E-5F6F-44C8-A539-83C0D3003FB2}"/>
              </a:ext>
            </a:extLst>
          </p:cNvPr>
          <p:cNvSpPr>
            <a:spLocks xmlns:a="http://schemas.openxmlformats.org/drawingml/2006/main" noGrp="1"/>
          </p:cNvSpPr>
          <p:nvPr/>
        </p:nvSpPr>
        <p:spPr>
          <a:xfrm xmlns:a="http://schemas.openxmlformats.org/drawingml/2006/main">
            <a:off x="666750" y="5143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Measured inference, verified chain</a:t>
            </a:r>
          </a:p>
        </p:txBody>
      </p:sp>
      <p:sp>
        <p:nvSpPr>
          <p:cNvPr id="2" name="text-52">
            <a:extLst xmlns:a="http://schemas.openxmlformats.org/drawingml/2006/main">
              <a:ext uri="{FF2B5EF4-FFF2-40B4-BE49-F238E27FC236}">
                <a16:creationId xmlns:a16="http://schemas.microsoft.com/office/drawing/2014/main" id="{17BB129F-5E2B-49BE-83C8-B728D1C64D6D}"/>
              </a:ext>
            </a:extLst>
          </p:cNvPr>
          <p:cNvSpPr>
            <a:spLocks xmlns:a="http://schemas.openxmlformats.org/drawingml/2006/main" noGrp="1"/>
          </p:cNvSpPr>
          <p:nvPr/>
        </p:nvSpPr>
        <p:spPr>
          <a:xfrm xmlns:a="http://schemas.openxmlformats.org/drawingml/2006/main">
            <a:off x="695325" y="1362075"/>
            <a:ext cx="10258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70D5A2"/>
                </a:solidFill>
                <a:latin typeface="Arial"/>
                <a:ea typeface="Arial"/>
                <a:cs typeface="Arial"/>
              </a:defRPr>
            </a:pPr>
            <a:r>
              <a:rPr sz="1950" b="1">
                <a:solidFill>
                  <a:srgbClr val="70D5A2"/>
                </a:solidFill>
                <a:latin typeface="Arial"/>
                <a:ea typeface="Arial"/>
                <a:cs typeface="Arial"/>
              </a:rPr>
              <a:t>Kiln qwen3-32b. Final recorded dinner run.</a:t>
            </a:r>
          </a:p>
        </p:txBody>
      </p:sp>
      <p:sp>
        <p:nvSpPr>
          <p:cNvPr id="3" name="text-53">
            <a:extLst xmlns:a="http://schemas.openxmlformats.org/drawingml/2006/main">
              <a:ext uri="{FF2B5EF4-FFF2-40B4-BE49-F238E27FC236}">
                <a16:creationId xmlns:a16="http://schemas.microsoft.com/office/drawing/2014/main" id="{8EE0D182-9E99-4B6E-9F0F-908EEEECCE81}"/>
              </a:ext>
            </a:extLst>
          </p:cNvPr>
          <p:cNvSpPr>
            <a:spLocks xmlns:a="http://schemas.openxmlformats.org/drawingml/2006/main" noGrp="1"/>
          </p:cNvSpPr>
          <p:nvPr/>
        </p:nvSpPr>
        <p:spPr>
          <a:xfrm xmlns:a="http://schemas.openxmlformats.org/drawingml/2006/main">
            <a:off x="714375" y="2114550"/>
            <a:ext cx="3209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Intent draft</a:t>
            </a:r>
          </a:p>
        </p:txBody>
      </p:sp>
      <p:sp>
        <p:nvSpPr>
          <p:cNvPr id="4" name="text-54">
            <a:extLst xmlns:a="http://schemas.openxmlformats.org/drawingml/2006/main">
              <a:ext uri="{FF2B5EF4-FFF2-40B4-BE49-F238E27FC236}">
                <a16:creationId xmlns:a16="http://schemas.microsoft.com/office/drawing/2014/main" id="{174AAFDF-0D50-4B5F-94BE-D88ED87DF812}"/>
              </a:ext>
            </a:extLst>
          </p:cNvPr>
          <p:cNvSpPr>
            <a:spLocks xmlns:a="http://schemas.openxmlformats.org/drawingml/2006/main" noGrp="1"/>
          </p:cNvSpPr>
          <p:nvPr/>
        </p:nvSpPr>
        <p:spPr>
          <a:xfrm xmlns:a="http://schemas.openxmlformats.org/drawingml/2006/main">
            <a:off x="704850" y="2619375"/>
            <a:ext cx="302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261 in</a:t>
            </a:r>
          </a:p>
        </p:txBody>
      </p:sp>
      <p:sp>
        <p:nvSpPr>
          <p:cNvPr id="5" name="text-55">
            <a:extLst xmlns:a="http://schemas.openxmlformats.org/drawingml/2006/main">
              <a:ext uri="{FF2B5EF4-FFF2-40B4-BE49-F238E27FC236}">
                <a16:creationId xmlns:a16="http://schemas.microsoft.com/office/drawing/2014/main" id="{695B9FA4-4CB9-4965-9A93-47A0BEF62F71}"/>
              </a:ext>
            </a:extLst>
          </p:cNvPr>
          <p:cNvSpPr>
            <a:spLocks xmlns:a="http://schemas.openxmlformats.org/drawingml/2006/main" noGrp="1"/>
          </p:cNvSpPr>
          <p:nvPr/>
        </p:nvSpPr>
        <p:spPr>
          <a:xfrm xmlns:a="http://schemas.openxmlformats.org/drawingml/2006/main">
            <a:off x="714375" y="32670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4776A"/>
                </a:solidFill>
                <a:latin typeface="Arial"/>
                <a:ea typeface="Arial"/>
                <a:cs typeface="Arial"/>
              </a:defRPr>
            </a:pPr>
            <a:r>
              <a:rPr sz="1875" b="1">
                <a:solidFill>
                  <a:srgbClr val="64776A"/>
                </a:solidFill>
                <a:latin typeface="Arial"/>
                <a:ea typeface="Arial"/>
                <a:cs typeface="Arial"/>
              </a:rPr>
              <a:t>97 out</a:t>
            </a:r>
          </a:p>
        </p:txBody>
      </p:sp>
      <p:sp>
        <p:nvSpPr>
          <p:cNvPr id="6" name="text-56">
            <a:extLst xmlns:a="http://schemas.openxmlformats.org/drawingml/2006/main">
              <a:ext uri="{FF2B5EF4-FFF2-40B4-BE49-F238E27FC236}">
                <a16:creationId xmlns:a16="http://schemas.microsoft.com/office/drawing/2014/main" id="{319A49BF-2C76-4664-A099-054047D02FE9}"/>
              </a:ext>
            </a:extLst>
          </p:cNvPr>
          <p:cNvSpPr>
            <a:spLocks xmlns:a="http://schemas.openxmlformats.org/drawingml/2006/main" noGrp="1"/>
          </p:cNvSpPr>
          <p:nvPr/>
        </p:nvSpPr>
        <p:spPr>
          <a:xfrm xmlns:a="http://schemas.openxmlformats.org/drawingml/2006/main">
            <a:off x="4333875" y="2114550"/>
            <a:ext cx="3343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Menu choice</a:t>
            </a:r>
          </a:p>
        </p:txBody>
      </p:sp>
      <p:sp>
        <p:nvSpPr>
          <p:cNvPr id="7" name="text-57">
            <a:extLst xmlns:a="http://schemas.openxmlformats.org/drawingml/2006/main">
              <a:ext uri="{FF2B5EF4-FFF2-40B4-BE49-F238E27FC236}">
                <a16:creationId xmlns:a16="http://schemas.microsoft.com/office/drawing/2014/main" id="{8FC83183-9FE5-4079-A0B6-B4D4CA4F3DB5}"/>
              </a:ext>
            </a:extLst>
          </p:cNvPr>
          <p:cNvSpPr>
            <a:spLocks xmlns:a="http://schemas.openxmlformats.org/drawingml/2006/main" noGrp="1"/>
          </p:cNvSpPr>
          <p:nvPr/>
        </p:nvSpPr>
        <p:spPr>
          <a:xfrm xmlns:a="http://schemas.openxmlformats.org/drawingml/2006/main">
            <a:off x="4324350" y="2619375"/>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358 in</a:t>
            </a:r>
          </a:p>
        </p:txBody>
      </p:sp>
      <p:sp>
        <p:nvSpPr>
          <p:cNvPr id="8" name="text-58">
            <a:extLst xmlns:a="http://schemas.openxmlformats.org/drawingml/2006/main">
              <a:ext uri="{FF2B5EF4-FFF2-40B4-BE49-F238E27FC236}">
                <a16:creationId xmlns:a16="http://schemas.microsoft.com/office/drawing/2014/main" id="{3D3AEBAC-2630-4E96-A337-6B70F6D8A7A9}"/>
              </a:ext>
            </a:extLst>
          </p:cNvPr>
          <p:cNvSpPr>
            <a:spLocks xmlns:a="http://schemas.openxmlformats.org/drawingml/2006/main" noGrp="1"/>
          </p:cNvSpPr>
          <p:nvPr/>
        </p:nvSpPr>
        <p:spPr>
          <a:xfrm xmlns:a="http://schemas.openxmlformats.org/drawingml/2006/main">
            <a:off x="4333875" y="32670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4776A"/>
                </a:solidFill>
                <a:latin typeface="Arial"/>
                <a:ea typeface="Arial"/>
                <a:cs typeface="Arial"/>
              </a:defRPr>
            </a:pPr>
            <a:r>
              <a:rPr sz="1875" b="1">
                <a:solidFill>
                  <a:srgbClr val="64776A"/>
                </a:solidFill>
                <a:latin typeface="Arial"/>
                <a:ea typeface="Arial"/>
                <a:cs typeface="Arial"/>
              </a:rPr>
              <a:t>78 out</a:t>
            </a:r>
          </a:p>
        </p:txBody>
      </p:sp>
      <p:sp>
        <p:nvSpPr>
          <p:cNvPr id="9" name="text-59">
            <a:extLst xmlns:a="http://schemas.openxmlformats.org/drawingml/2006/main">
              <a:ext uri="{FF2B5EF4-FFF2-40B4-BE49-F238E27FC236}">
                <a16:creationId xmlns:a16="http://schemas.microsoft.com/office/drawing/2014/main" id="{ECBE9F59-A3EC-4BCE-ADD2-5217D7AC61B7}"/>
              </a:ext>
            </a:extLst>
          </p:cNvPr>
          <p:cNvSpPr>
            <a:spLocks xmlns:a="http://schemas.openxmlformats.org/drawingml/2006/main" noGrp="1"/>
          </p:cNvSpPr>
          <p:nvPr/>
        </p:nvSpPr>
        <p:spPr>
          <a:xfrm xmlns:a="http://schemas.openxmlformats.org/drawingml/2006/main">
            <a:off x="7953375" y="21145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Two real calls</a:t>
            </a:r>
          </a:p>
        </p:txBody>
      </p:sp>
      <p:sp>
        <p:nvSpPr>
          <p:cNvPr id="10" name="text-60">
            <a:extLst xmlns:a="http://schemas.openxmlformats.org/drawingml/2006/main">
              <a:ext uri="{FF2B5EF4-FFF2-40B4-BE49-F238E27FC236}">
                <a16:creationId xmlns:a16="http://schemas.microsoft.com/office/drawing/2014/main" id="{F524BEB4-1182-4C0D-8D63-8BCFDEF6D015}"/>
              </a:ext>
            </a:extLst>
          </p:cNvPr>
          <p:cNvSpPr>
            <a:spLocks xmlns:a="http://schemas.openxmlformats.org/drawingml/2006/main" noGrp="1"/>
          </p:cNvSpPr>
          <p:nvPr/>
        </p:nvSpPr>
        <p:spPr>
          <a:xfrm xmlns:a="http://schemas.openxmlformats.org/drawingml/2006/main">
            <a:off x="7953375" y="2562225"/>
            <a:ext cx="325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70D5A2"/>
                </a:solidFill>
                <a:latin typeface="Arial"/>
                <a:ea typeface="Arial"/>
                <a:cs typeface="Arial"/>
              </a:defRPr>
            </a:pPr>
            <a:r>
              <a:rPr sz="4500" b="1">
                <a:solidFill>
                  <a:srgbClr val="70D5A2"/>
                </a:solidFill>
                <a:latin typeface="Arial"/>
                <a:ea typeface="Arial"/>
                <a:cs typeface="Arial"/>
              </a:rPr>
              <a:t>794</a:t>
            </a:r>
          </a:p>
        </p:txBody>
      </p:sp>
      <p:sp>
        <p:nvSpPr>
          <p:cNvPr id="11" name="text-61">
            <a:extLst xmlns:a="http://schemas.openxmlformats.org/drawingml/2006/main">
              <a:ext uri="{FF2B5EF4-FFF2-40B4-BE49-F238E27FC236}">
                <a16:creationId xmlns:a16="http://schemas.microsoft.com/office/drawing/2014/main" id="{1EE71D85-63C6-4689-84CD-774A029F7586}"/>
              </a:ext>
            </a:extLst>
          </p:cNvPr>
          <p:cNvSpPr>
            <a:spLocks xmlns:a="http://schemas.openxmlformats.org/drawingml/2006/main" noGrp="1"/>
          </p:cNvSpPr>
          <p:nvPr/>
        </p:nvSpPr>
        <p:spPr>
          <a:xfrm xmlns:a="http://schemas.openxmlformats.org/drawingml/2006/main">
            <a:off x="7981950" y="3314700"/>
            <a:ext cx="32480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64776A"/>
                </a:solidFill>
                <a:latin typeface="Arial"/>
                <a:ea typeface="Arial"/>
                <a:cs typeface="Arial"/>
              </a:defRPr>
            </a:pPr>
            <a:r>
              <a:rPr sz="1875" b="1">
                <a:solidFill>
                  <a:srgbClr val="64776A"/>
                </a:solidFill>
                <a:latin typeface="Arial"/>
                <a:ea typeface="Arial"/>
                <a:cs typeface="Arial"/>
              </a:rPr>
              <a:t>total tokens</a:t>
            </a:r>
          </a:p>
        </p:txBody>
      </p:sp>
      <p:sp>
        <p:nvSpPr>
          <p:cNvPr id="12" name="text-62">
            <a:extLst xmlns:a="http://schemas.openxmlformats.org/drawingml/2006/main">
              <a:ext uri="{FF2B5EF4-FFF2-40B4-BE49-F238E27FC236}">
                <a16:creationId xmlns:a16="http://schemas.microsoft.com/office/drawing/2014/main" id="{2942AF82-7752-4024-851A-8A8EE45CD119}"/>
              </a:ext>
            </a:extLst>
          </p:cNvPr>
          <p:cNvSpPr>
            <a:spLocks xmlns:a="http://schemas.openxmlformats.org/drawingml/2006/main" noGrp="1"/>
          </p:cNvSpPr>
          <p:nvPr/>
        </p:nvSpPr>
        <p:spPr>
          <a:xfrm xmlns:a="http://schemas.openxmlformats.org/drawingml/2006/main">
            <a:off x="685800" y="434340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Code checks price and payee.</a:t>
            </a:r>
          </a:p>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Rejections need no extra model call.</a:t>
            </a:r>
          </a:p>
        </p:txBody>
      </p:sp>
      <p:sp>
        <p:nvSpPr>
          <p:cNvPr id="13" name="text-63">
            <a:extLst xmlns:a="http://schemas.openxmlformats.org/drawingml/2006/main">
              <a:ext uri="{FF2B5EF4-FFF2-40B4-BE49-F238E27FC236}">
                <a16:creationId xmlns:a16="http://schemas.microsoft.com/office/drawing/2014/main" id="{77CAE9D2-FBA7-4AE4-AAB3-CC197EA5247A}"/>
              </a:ext>
            </a:extLst>
          </p:cNvPr>
          <p:cNvSpPr>
            <a:spLocks xmlns:a="http://schemas.openxmlformats.org/drawingml/2006/main" noGrp="1"/>
          </p:cNvSpPr>
          <p:nvPr/>
        </p:nvSpPr>
        <p:spPr>
          <a:xfrm xmlns:a="http://schemas.openxmlformats.org/drawingml/2006/main">
            <a:off x="695325"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2B46A"/>
                </a:solidFill>
                <a:latin typeface="Arial"/>
                <a:ea typeface="Arial"/>
                <a:cs typeface="Arial"/>
              </a:defRPr>
            </a:pPr>
            <a:r>
              <a:rPr sz="1500" b="1">
                <a:solidFill>
                  <a:srgbClr val="E2B46A"/>
                </a:solidFill>
                <a:latin typeface="Arial"/>
                <a:ea typeface="Arial"/>
                <a:cs typeface="Arial"/>
              </a:rPr>
              <a:t>Illustrative: 4 x 150 W TDP x 4.162 s = 0.694 Wh. Not measured.</a:t>
            </a:r>
          </a:p>
        </p:txBody>
      </p:sp>
      <p:sp>
        <p:nvSpPr>
          <p:cNvPr id="14" name="text-64">
            <a:extLst xmlns:a="http://schemas.openxmlformats.org/drawingml/2006/main">
              <a:ext uri="{FF2B5EF4-FFF2-40B4-BE49-F238E27FC236}">
                <a16:creationId xmlns:a16="http://schemas.microsoft.com/office/drawing/2014/main" id="{A670DB42-22BF-4CC0-AA06-B4DDAC431F99}"/>
              </a:ext>
            </a:extLst>
          </p:cNvPr>
          <p:cNvSpPr>
            <a:spLocks xmlns:a="http://schemas.openxmlformats.org/drawingml/2006/main" noGrp="1"/>
          </p:cNvSpPr>
          <p:nvPr/>
        </p:nvSpPr>
        <p:spPr>
          <a:xfrm xmlns:a="http://schemas.openxmlformats.org/drawingml/2006/main">
            <a:off x="695325" y="5857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0D5A2"/>
                </a:solidFill>
                <a:latin typeface="Arial"/>
                <a:ea typeface="Arial"/>
                <a:cs typeface="Arial"/>
              </a:defRPr>
            </a:pPr>
            <a:r>
              <a:rPr sz="1500" b="1">
                <a:solidFill>
                  <a:srgbClr val="70D5A2"/>
                </a:solidFill>
                <a:latin typeface="Arial"/>
                <a:ea typeface="Arial"/>
                <a:cs typeface="Arial"/>
              </a:rPr>
              <a:t>Shasta: 1 payment, 3 recorded refusals, independent audit 10/10.</a:t>
            </a:r>
          </a:p>
        </p:txBody>
      </p:sp>
      <p:sp>
        <p:nvSpPr>
          <p:cNvPr id="15" name="text-65">
            <a:extLst xmlns:a="http://schemas.openxmlformats.org/drawingml/2006/main">
              <a:ext uri="{FF2B5EF4-FFF2-40B4-BE49-F238E27FC236}">
                <a16:creationId xmlns:a16="http://schemas.microsoft.com/office/drawing/2014/main" id="{B131F703-5371-45B6-8C25-B53F4B090565}"/>
              </a:ext>
            </a:extLst>
          </p:cNvPr>
          <p:cNvSpPr>
            <a:spLocks xmlns:a="http://schemas.openxmlformats.org/drawingml/2006/main" noGrp="1"/>
          </p:cNvSpPr>
          <p:nvPr/>
        </p:nvSpPr>
        <p:spPr>
          <a:xfrm xmlns:a="http://schemas.openxmlformats.org/drawingml/2006/main">
            <a:off x="704850" y="6334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0D5A2"/>
                </a:solidFill>
                <a:latin typeface="Arial"/>
                <a:ea typeface="Arial"/>
                <a:cs typeface="Arial"/>
              </a:defRPr>
            </a:pPr>
            <a:r>
              <a:rPr sz="1350" b="0">
                <a:solidFill>
                  <a:srgbClr val="70D5A2"/>
                </a:solidFill>
                <a:latin typeface="Arial"/>
                <a:ea typeface="Arial"/>
                <a:cs typeface="Arial"/>
              </a:rPr>
              <a:t>Dinner is the first case for user-set spending boundaries across personal agents.</a:t>
            </a:r>
          </a:p>
        </p:txBody>
      </p:sp>
    </p:spTree>
    <p:extLst>
      <p:ext uri="{BB962C8B-B14F-4D97-AF65-F5344CB8AC3E}">
        <p14:creationId xmlns:p14="http://schemas.microsoft.com/office/powerpoint/2010/main" val="1731910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xlen</dc:creator>
  <lastModifiedBy>xlen</lastModifiedBy>
  <dc:title>Presentation</dc:title>
  <dcterms:created xsi:type="dcterms:W3CDTF">2026-09-29T04:36:25.3140000Z</dcterms:created>
  <dcterms:modified xsi:type="dcterms:W3CDTF">2026-09-29T04:36:25.3140000Z</dcterms:modified>
</coreProperties>
</file>